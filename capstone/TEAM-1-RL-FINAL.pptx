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73" r:id="rId6"/>
    <p:sldId id="266" r:id="rId7"/>
    <p:sldId id="268" r:id="rId8"/>
    <p:sldId id="269" r:id="rId9"/>
    <p:sldId id="259" r:id="rId10"/>
    <p:sldId id="274" r:id="rId11"/>
    <p:sldId id="275" r:id="rId12"/>
    <p:sldId id="276" r:id="rId13"/>
    <p:sldId id="277" r:id="rId14"/>
    <p:sldId id="278" r:id="rId15"/>
    <p:sldId id="279" r:id="rId16"/>
    <p:sldId id="280" r:id="rId17"/>
    <p:sldId id="281" r:id="rId18"/>
    <p:sldId id="282" r:id="rId19"/>
    <p:sldId id="283" r:id="rId20"/>
    <p:sldId id="284" r:id="rId21"/>
    <p:sldId id="262" r:id="rId22"/>
    <p:sldId id="285" r:id="rId23"/>
    <p:sldId id="287" r:id="rId24"/>
    <p:sldId id="286" r:id="rId25"/>
    <p:sldId id="263" r:id="rId26"/>
    <p:sldId id="260" r:id="rId27"/>
    <p:sldId id="261" r:id="rId28"/>
    <p:sldId id="264" r:id="rId29"/>
    <p:sldId id="270" r:id="rId30"/>
    <p:sldId id="272" r:id="rId31"/>
    <p:sldId id="271" r:id="rId32"/>
    <p:sldId id="26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700D20-8300-451B-89C3-5C289F8182BA}" v="20" dt="2026-08-21T03:01:50.4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kumar" userId="5091efa82044c9fd" providerId="LiveId" clId="{17CAB9B4-9869-407C-81DE-82117E326DA9}"/>
    <pc:docChg chg="undo custSel modSld">
      <pc:chgData name="praveen kumar" userId="5091efa82044c9fd" providerId="LiveId" clId="{17CAB9B4-9869-407C-81DE-82117E326DA9}" dt="2026-08-21T08:08:09.057" v="1287" actId="1036"/>
      <pc:docMkLst>
        <pc:docMk/>
      </pc:docMkLst>
      <pc:sldChg chg="modSp mod">
        <pc:chgData name="praveen kumar" userId="5091efa82044c9fd" providerId="LiveId" clId="{17CAB9B4-9869-407C-81DE-82117E326DA9}" dt="2026-08-21T08:08:09.057" v="1287" actId="1036"/>
        <pc:sldMkLst>
          <pc:docMk/>
          <pc:sldMk cId="4199753972" sldId="259"/>
        </pc:sldMkLst>
        <pc:picChg chg="mod">
          <ac:chgData name="praveen kumar" userId="5091efa82044c9fd" providerId="LiveId" clId="{17CAB9B4-9869-407C-81DE-82117E326DA9}" dt="2026-08-21T08:08:09.057" v="1287" actId="1036"/>
          <ac:picMkLst>
            <pc:docMk/>
            <pc:sldMk cId="4199753972" sldId="259"/>
            <ac:picMk id="3" creationId="{03B3DCBC-4A7F-015D-3A83-C296DD30140A}"/>
          </ac:picMkLst>
        </pc:picChg>
      </pc:sldChg>
      <pc:sldChg chg="addSp delSp modSp mod">
        <pc:chgData name="praveen kumar" userId="5091efa82044c9fd" providerId="LiveId" clId="{17CAB9B4-9869-407C-81DE-82117E326DA9}" dt="2026-08-21T03:26:51.451" v="1106" actId="1035"/>
        <pc:sldMkLst>
          <pc:docMk/>
          <pc:sldMk cId="2093185656" sldId="262"/>
        </pc:sldMkLst>
        <pc:spChg chg="add del mod">
          <ac:chgData name="praveen kumar" userId="5091efa82044c9fd" providerId="LiveId" clId="{17CAB9B4-9869-407C-81DE-82117E326DA9}" dt="2026-08-21T03:01:57.824" v="774" actId="478"/>
          <ac:spMkLst>
            <pc:docMk/>
            <pc:sldMk cId="2093185656" sldId="262"/>
            <ac:spMk id="8" creationId="{B089A992-CEA0-8361-9141-0848C55C88A5}"/>
          </ac:spMkLst>
        </pc:spChg>
        <pc:spChg chg="mod">
          <ac:chgData name="praveen kumar" userId="5091efa82044c9fd" providerId="LiveId" clId="{17CAB9B4-9869-407C-81DE-82117E326DA9}" dt="2026-08-21T02:56:03.057" v="491" actId="1036"/>
          <ac:spMkLst>
            <pc:docMk/>
            <pc:sldMk cId="2093185656" sldId="262"/>
            <ac:spMk id="9" creationId="{9A708CF8-3144-51D3-63E3-7ECF161969A1}"/>
          </ac:spMkLst>
        </pc:spChg>
        <pc:spChg chg="add mod">
          <ac:chgData name="praveen kumar" userId="5091efa82044c9fd" providerId="LiveId" clId="{17CAB9B4-9869-407C-81DE-82117E326DA9}" dt="2026-08-21T03:01:53.833" v="773" actId="20577"/>
          <ac:spMkLst>
            <pc:docMk/>
            <pc:sldMk cId="2093185656" sldId="262"/>
            <ac:spMk id="10" creationId="{933B0D20-B277-6D49-CBCA-4289CA47D6C9}"/>
          </ac:spMkLst>
        </pc:spChg>
        <pc:spChg chg="mod">
          <ac:chgData name="praveen kumar" userId="5091efa82044c9fd" providerId="LiveId" clId="{17CAB9B4-9869-407C-81DE-82117E326DA9}" dt="2026-08-21T02:55:55.328" v="472" actId="1038"/>
          <ac:spMkLst>
            <pc:docMk/>
            <pc:sldMk cId="2093185656" sldId="262"/>
            <ac:spMk id="11" creationId="{3C907439-1140-38E4-9309-3F0A4DB5EFD9}"/>
          </ac:spMkLst>
        </pc:spChg>
        <pc:spChg chg="add del">
          <ac:chgData name="praveen kumar" userId="5091efa82044c9fd" providerId="LiveId" clId="{17CAB9B4-9869-407C-81DE-82117E326DA9}" dt="2026-08-21T02:58:58.562" v="757" actId="22"/>
          <ac:spMkLst>
            <pc:docMk/>
            <pc:sldMk cId="2093185656" sldId="262"/>
            <ac:spMk id="13" creationId="{96D88817-EA60-4E1D-1BF6-C89A5B797470}"/>
          </ac:spMkLst>
        </pc:spChg>
        <pc:spChg chg="add mod">
          <ac:chgData name="praveen kumar" userId="5091efa82044c9fd" providerId="LiveId" clId="{17CAB9B4-9869-407C-81DE-82117E326DA9}" dt="2026-08-21T03:01:35.396" v="771"/>
          <ac:spMkLst>
            <pc:docMk/>
            <pc:sldMk cId="2093185656" sldId="262"/>
            <ac:spMk id="15" creationId="{AEE4A41A-B7AA-FA1F-BE07-82F236BE4B40}"/>
          </ac:spMkLst>
        </pc:spChg>
        <pc:spChg chg="add mod">
          <ac:chgData name="praveen kumar" userId="5091efa82044c9fd" providerId="LiveId" clId="{17CAB9B4-9869-407C-81DE-82117E326DA9}" dt="2026-08-21T03:26:10.797" v="1024" actId="1036"/>
          <ac:spMkLst>
            <pc:docMk/>
            <pc:sldMk cId="2093185656" sldId="262"/>
            <ac:spMk id="17" creationId="{311C2AB1-004D-2931-FF28-F87F12108498}"/>
          </ac:spMkLst>
        </pc:spChg>
        <pc:spChg chg="add mod">
          <ac:chgData name="praveen kumar" userId="5091efa82044c9fd" providerId="LiveId" clId="{17CAB9B4-9869-407C-81DE-82117E326DA9}" dt="2026-08-21T03:26:51.451" v="1106" actId="1035"/>
          <ac:spMkLst>
            <pc:docMk/>
            <pc:sldMk cId="2093185656" sldId="262"/>
            <ac:spMk id="19" creationId="{64CF3DB8-EAC2-BBA7-13A1-DA925692A380}"/>
          </ac:spMkLst>
        </pc:spChg>
        <pc:picChg chg="add mod">
          <ac:chgData name="praveen kumar" userId="5091efa82044c9fd" providerId="LiveId" clId="{17CAB9B4-9869-407C-81DE-82117E326DA9}" dt="2026-08-21T02:56:13.749" v="536" actId="1038"/>
          <ac:picMkLst>
            <pc:docMk/>
            <pc:sldMk cId="2093185656" sldId="262"/>
            <ac:picMk id="3" creationId="{9741E4E6-13EB-E5C0-F207-304CFF34AD97}"/>
          </ac:picMkLst>
        </pc:picChg>
        <pc:picChg chg="add mod">
          <ac:chgData name="praveen kumar" userId="5091efa82044c9fd" providerId="LiveId" clId="{17CAB9B4-9869-407C-81DE-82117E326DA9}" dt="2026-08-21T02:56:08.525" v="517" actId="1038"/>
          <ac:picMkLst>
            <pc:docMk/>
            <pc:sldMk cId="2093185656" sldId="262"/>
            <ac:picMk id="6" creationId="{4B124281-B23A-CBC3-3683-164C8956C208}"/>
          </ac:picMkLst>
        </pc:picChg>
      </pc:sldChg>
      <pc:sldChg chg="modSp mod">
        <pc:chgData name="praveen kumar" userId="5091efa82044c9fd" providerId="LiveId" clId="{17CAB9B4-9869-407C-81DE-82117E326DA9}" dt="2026-08-21T02:45:24.407" v="415" actId="1035"/>
        <pc:sldMkLst>
          <pc:docMk/>
          <pc:sldMk cId="3704057157" sldId="263"/>
        </pc:sldMkLst>
        <pc:spChg chg="mod">
          <ac:chgData name="praveen kumar" userId="5091efa82044c9fd" providerId="LiveId" clId="{17CAB9B4-9869-407C-81DE-82117E326DA9}" dt="2026-08-21T02:45:24.407" v="415" actId="1035"/>
          <ac:spMkLst>
            <pc:docMk/>
            <pc:sldMk cId="3704057157" sldId="263"/>
            <ac:spMk id="5" creationId="{DB5F60F9-6495-2A3A-2138-5BF6443D6A10}"/>
          </ac:spMkLst>
        </pc:spChg>
      </pc:sldChg>
      <pc:sldChg chg="modSp mod">
        <pc:chgData name="praveen kumar" userId="5091efa82044c9fd" providerId="LiveId" clId="{17CAB9B4-9869-407C-81DE-82117E326DA9}" dt="2026-08-21T02:50:03.049" v="417" actId="2710"/>
        <pc:sldMkLst>
          <pc:docMk/>
          <pc:sldMk cId="2814907433" sldId="270"/>
        </pc:sldMkLst>
        <pc:spChg chg="mod">
          <ac:chgData name="praveen kumar" userId="5091efa82044c9fd" providerId="LiveId" clId="{17CAB9B4-9869-407C-81DE-82117E326DA9}" dt="2026-08-21T02:50:03.049" v="417" actId="2710"/>
          <ac:spMkLst>
            <pc:docMk/>
            <pc:sldMk cId="2814907433" sldId="270"/>
            <ac:spMk id="10" creationId="{00000000-0000-0000-0000-000000000000}"/>
          </ac:spMkLst>
        </pc:spChg>
      </pc:sldChg>
      <pc:sldChg chg="modSp mod">
        <pc:chgData name="praveen kumar" userId="5091efa82044c9fd" providerId="LiveId" clId="{17CAB9B4-9869-407C-81DE-82117E326DA9}" dt="2026-08-21T02:49:41.488" v="416" actId="255"/>
        <pc:sldMkLst>
          <pc:docMk/>
          <pc:sldMk cId="3822484228" sldId="272"/>
        </pc:sldMkLst>
        <pc:spChg chg="mod">
          <ac:chgData name="praveen kumar" userId="5091efa82044c9fd" providerId="LiveId" clId="{17CAB9B4-9869-407C-81DE-82117E326DA9}" dt="2026-08-21T02:49:41.488" v="416" actId="255"/>
          <ac:spMkLst>
            <pc:docMk/>
            <pc:sldMk cId="3822484228" sldId="272"/>
            <ac:spMk id="10" creationId="{00000000-0000-0000-0000-000000000000}"/>
          </ac:spMkLst>
        </pc:spChg>
      </pc:sldChg>
      <pc:sldChg chg="modSp mod">
        <pc:chgData name="praveen kumar" userId="5091efa82044c9fd" providerId="LiveId" clId="{17CAB9B4-9869-407C-81DE-82117E326DA9}" dt="2026-08-21T02:34:43.515" v="129" actId="1036"/>
        <pc:sldMkLst>
          <pc:docMk/>
          <pc:sldMk cId="0" sldId="274"/>
        </pc:sldMkLst>
        <pc:spChg chg="mod">
          <ac:chgData name="praveen kumar" userId="5091efa82044c9fd" providerId="LiveId" clId="{17CAB9B4-9869-407C-81DE-82117E326DA9}" dt="2026-08-21T02:34:43.515" v="129" actId="1036"/>
          <ac:spMkLst>
            <pc:docMk/>
            <pc:sldMk cId="0" sldId="274"/>
            <ac:spMk id="4" creationId="{CA6C772D-7F6F-E4C3-0CB1-4E24CCBAC321}"/>
          </ac:spMkLst>
        </pc:spChg>
      </pc:sldChg>
      <pc:sldChg chg="modSp mod">
        <pc:chgData name="praveen kumar" userId="5091efa82044c9fd" providerId="LiveId" clId="{17CAB9B4-9869-407C-81DE-82117E326DA9}" dt="2026-08-21T02:35:28.428" v="150" actId="20577"/>
        <pc:sldMkLst>
          <pc:docMk/>
          <pc:sldMk cId="0" sldId="275"/>
        </pc:sldMkLst>
        <pc:spChg chg="mod">
          <ac:chgData name="praveen kumar" userId="5091efa82044c9fd" providerId="LiveId" clId="{17CAB9B4-9869-407C-81DE-82117E326DA9}" dt="2026-08-21T02:35:28.428" v="150" actId="20577"/>
          <ac:spMkLst>
            <pc:docMk/>
            <pc:sldMk cId="0" sldId="275"/>
            <ac:spMk id="4" creationId="{A60A7A20-090A-6E3B-82A5-3948443E7A42}"/>
          </ac:spMkLst>
        </pc:spChg>
      </pc:sldChg>
      <pc:sldChg chg="modSp mod">
        <pc:chgData name="praveen kumar" userId="5091efa82044c9fd" providerId="LiveId" clId="{17CAB9B4-9869-407C-81DE-82117E326DA9}" dt="2026-08-21T02:36:27.660" v="185" actId="1035"/>
        <pc:sldMkLst>
          <pc:docMk/>
          <pc:sldMk cId="0" sldId="276"/>
        </pc:sldMkLst>
        <pc:spChg chg="mod">
          <ac:chgData name="praveen kumar" userId="5091efa82044c9fd" providerId="LiveId" clId="{17CAB9B4-9869-407C-81DE-82117E326DA9}" dt="2026-08-21T02:36:27.660" v="185" actId="1035"/>
          <ac:spMkLst>
            <pc:docMk/>
            <pc:sldMk cId="0" sldId="276"/>
            <ac:spMk id="4" creationId="{BA5E63CE-E8BE-1E7A-DB7A-A6A1F7E85E35}"/>
          </ac:spMkLst>
        </pc:spChg>
      </pc:sldChg>
      <pc:sldChg chg="modSp mod">
        <pc:chgData name="praveen kumar" userId="5091efa82044c9fd" providerId="LiveId" clId="{17CAB9B4-9869-407C-81DE-82117E326DA9}" dt="2026-08-21T02:37:24.789" v="230" actId="14100"/>
        <pc:sldMkLst>
          <pc:docMk/>
          <pc:sldMk cId="0" sldId="277"/>
        </pc:sldMkLst>
        <pc:spChg chg="mod">
          <ac:chgData name="praveen kumar" userId="5091efa82044c9fd" providerId="LiveId" clId="{17CAB9B4-9869-407C-81DE-82117E326DA9}" dt="2026-08-21T02:37:24.789" v="230" actId="14100"/>
          <ac:spMkLst>
            <pc:docMk/>
            <pc:sldMk cId="0" sldId="277"/>
            <ac:spMk id="4" creationId="{E9CA3173-8AFE-D31B-D40F-CBB1AFF3F2DE}"/>
          </ac:spMkLst>
        </pc:spChg>
        <pc:spChg chg="mod">
          <ac:chgData name="praveen kumar" userId="5091efa82044c9fd" providerId="LiveId" clId="{17CAB9B4-9869-407C-81DE-82117E326DA9}" dt="2026-08-21T02:37:19.170" v="229" actId="1036"/>
          <ac:spMkLst>
            <pc:docMk/>
            <pc:sldMk cId="0" sldId="277"/>
            <ac:spMk id="12" creationId="{00000000-0000-0000-0000-000000000000}"/>
          </ac:spMkLst>
        </pc:spChg>
      </pc:sldChg>
      <pc:sldChg chg="addSp delSp modSp mod">
        <pc:chgData name="praveen kumar" userId="5091efa82044c9fd" providerId="LiveId" clId="{17CAB9B4-9869-407C-81DE-82117E326DA9}" dt="2026-08-21T02:39:33.494" v="341" actId="1036"/>
        <pc:sldMkLst>
          <pc:docMk/>
          <pc:sldMk cId="0" sldId="278"/>
        </pc:sldMkLst>
        <pc:spChg chg="del">
          <ac:chgData name="praveen kumar" userId="5091efa82044c9fd" providerId="LiveId" clId="{17CAB9B4-9869-407C-81DE-82117E326DA9}" dt="2026-08-21T02:38:26.716" v="233" actId="478"/>
          <ac:spMkLst>
            <pc:docMk/>
            <pc:sldMk cId="0" sldId="278"/>
            <ac:spMk id="4" creationId="{3FA8A10E-B59B-A0C5-8C92-7317172025B1}"/>
          </ac:spMkLst>
        </pc:spChg>
        <pc:spChg chg="add mod">
          <ac:chgData name="praveen kumar" userId="5091efa82044c9fd" providerId="LiveId" clId="{17CAB9B4-9869-407C-81DE-82117E326DA9}" dt="2026-08-21T02:39:33.494" v="341" actId="1036"/>
          <ac:spMkLst>
            <pc:docMk/>
            <pc:sldMk cId="0" sldId="278"/>
            <ac:spMk id="5" creationId="{F4634359-600A-C259-56DB-780C34C34A74}"/>
          </ac:spMkLst>
        </pc:spChg>
        <pc:spChg chg="del">
          <ac:chgData name="praveen kumar" userId="5091efa82044c9fd" providerId="LiveId" clId="{17CAB9B4-9869-407C-81DE-82117E326DA9}" dt="2026-08-21T02:38:30.727" v="234" actId="478"/>
          <ac:spMkLst>
            <pc:docMk/>
            <pc:sldMk cId="0" sldId="278"/>
            <ac:spMk id="6" creationId="{8EC717A0-352A-E45B-5806-FB4E26595091}"/>
          </ac:spMkLst>
        </pc:spChg>
        <pc:spChg chg="mod">
          <ac:chgData name="praveen kumar" userId="5091efa82044c9fd" providerId="LiveId" clId="{17CAB9B4-9869-407C-81DE-82117E326DA9}" dt="2026-08-21T02:38:20.600" v="232" actId="1076"/>
          <ac:spMkLst>
            <pc:docMk/>
            <pc:sldMk cId="0" sldId="278"/>
            <ac:spMk id="13" creationId="{00000000-0000-0000-0000-000000000000}"/>
          </ac:spMkLst>
        </pc:spChg>
      </pc:sldChg>
      <pc:sldChg chg="modSp mod">
        <pc:chgData name="praveen kumar" userId="5091efa82044c9fd" providerId="LiveId" clId="{17CAB9B4-9869-407C-81DE-82117E326DA9}" dt="2026-08-21T02:41:13.157" v="394" actId="1036"/>
        <pc:sldMkLst>
          <pc:docMk/>
          <pc:sldMk cId="0" sldId="279"/>
        </pc:sldMkLst>
        <pc:spChg chg="mod">
          <ac:chgData name="praveen kumar" userId="5091efa82044c9fd" providerId="LiveId" clId="{17CAB9B4-9869-407C-81DE-82117E326DA9}" dt="2026-08-21T02:41:13.157" v="394" actId="1036"/>
          <ac:spMkLst>
            <pc:docMk/>
            <pc:sldMk cId="0" sldId="279"/>
            <ac:spMk id="4" creationId="{3CBD1612-FD35-B1D9-7E09-20A9F217F2F0}"/>
          </ac:spMkLst>
        </pc:spChg>
      </pc:sldChg>
      <pc:sldChg chg="modSp mod">
        <pc:chgData name="praveen kumar" userId="5091efa82044c9fd" providerId="LiveId" clId="{17CAB9B4-9869-407C-81DE-82117E326DA9}" dt="2026-08-21T03:27:59.834" v="1176" actId="1036"/>
        <pc:sldMkLst>
          <pc:docMk/>
          <pc:sldMk cId="0" sldId="280"/>
        </pc:sldMkLst>
        <pc:spChg chg="mod">
          <ac:chgData name="praveen kumar" userId="5091efa82044c9fd" providerId="LiveId" clId="{17CAB9B4-9869-407C-81DE-82117E326DA9}" dt="2026-08-21T03:27:59.834" v="1176" actId="1036"/>
          <ac:spMkLst>
            <pc:docMk/>
            <pc:sldMk cId="0" sldId="280"/>
            <ac:spMk id="10" creationId="{00000000-0000-0000-0000-000000000000}"/>
          </ac:spMkLst>
        </pc:spChg>
        <pc:spChg chg="mod">
          <ac:chgData name="praveen kumar" userId="5091efa82044c9fd" providerId="LiveId" clId="{17CAB9B4-9869-407C-81DE-82117E326DA9}" dt="2026-08-21T03:27:59.834" v="1176" actId="1036"/>
          <ac:spMkLst>
            <pc:docMk/>
            <pc:sldMk cId="0" sldId="280"/>
            <ac:spMk id="11" creationId="{00000000-0000-0000-0000-000000000000}"/>
          </ac:spMkLst>
        </pc:spChg>
      </pc:sldChg>
      <pc:sldChg chg="modSp mod">
        <pc:chgData name="praveen kumar" userId="5091efa82044c9fd" providerId="LiveId" clId="{17CAB9B4-9869-407C-81DE-82117E326DA9}" dt="2026-08-21T03:28:10.834" v="1196" actId="1036"/>
        <pc:sldMkLst>
          <pc:docMk/>
          <pc:sldMk cId="0" sldId="281"/>
        </pc:sldMkLst>
        <pc:spChg chg="mod">
          <ac:chgData name="praveen kumar" userId="5091efa82044c9fd" providerId="LiveId" clId="{17CAB9B4-9869-407C-81DE-82117E326DA9}" dt="2026-08-21T03:28:10.834" v="1196" actId="1036"/>
          <ac:spMkLst>
            <pc:docMk/>
            <pc:sldMk cId="0" sldId="281"/>
            <ac:spMk id="10" creationId="{00000000-0000-0000-0000-000000000000}"/>
          </ac:spMkLst>
        </pc:spChg>
        <pc:spChg chg="mod">
          <ac:chgData name="praveen kumar" userId="5091efa82044c9fd" providerId="LiveId" clId="{17CAB9B4-9869-407C-81DE-82117E326DA9}" dt="2026-08-21T03:28:10.834" v="1196" actId="1036"/>
          <ac:spMkLst>
            <pc:docMk/>
            <pc:sldMk cId="0" sldId="281"/>
            <ac:spMk id="11" creationId="{00000000-0000-0000-0000-000000000000}"/>
          </ac:spMkLst>
        </pc:spChg>
      </pc:sldChg>
      <pc:sldChg chg="modSp mod">
        <pc:chgData name="praveen kumar" userId="5091efa82044c9fd" providerId="LiveId" clId="{17CAB9B4-9869-407C-81DE-82117E326DA9}" dt="2026-08-21T03:27:43.061" v="1151" actId="1035"/>
        <pc:sldMkLst>
          <pc:docMk/>
          <pc:sldMk cId="0" sldId="282"/>
        </pc:sldMkLst>
        <pc:spChg chg="mod">
          <ac:chgData name="praveen kumar" userId="5091efa82044c9fd" providerId="LiveId" clId="{17CAB9B4-9869-407C-81DE-82117E326DA9}" dt="2026-08-21T03:27:43.061" v="1151" actId="1035"/>
          <ac:spMkLst>
            <pc:docMk/>
            <pc:sldMk cId="0" sldId="282"/>
            <ac:spMk id="3" creationId="{00000000-0000-0000-0000-000000000000}"/>
          </ac:spMkLst>
        </pc:spChg>
        <pc:spChg chg="mod">
          <ac:chgData name="praveen kumar" userId="5091efa82044c9fd" providerId="LiveId" clId="{17CAB9B4-9869-407C-81DE-82117E326DA9}" dt="2026-08-21T03:27:35.369" v="1135" actId="1036"/>
          <ac:spMkLst>
            <pc:docMk/>
            <pc:sldMk cId="0" sldId="282"/>
            <ac:spMk id="10" creationId="{00000000-0000-0000-0000-000000000000}"/>
          </ac:spMkLst>
        </pc:spChg>
        <pc:spChg chg="mod">
          <ac:chgData name="praveen kumar" userId="5091efa82044c9fd" providerId="LiveId" clId="{17CAB9B4-9869-407C-81DE-82117E326DA9}" dt="2026-08-21T03:27:35.369" v="1135" actId="1036"/>
          <ac:spMkLst>
            <pc:docMk/>
            <pc:sldMk cId="0" sldId="282"/>
            <ac:spMk id="11" creationId="{00000000-0000-0000-0000-000000000000}"/>
          </ac:spMkLst>
        </pc:spChg>
      </pc:sldChg>
      <pc:sldChg chg="modSp mod">
        <pc:chgData name="praveen kumar" userId="5091efa82044c9fd" providerId="LiveId" clId="{17CAB9B4-9869-407C-81DE-82117E326DA9}" dt="2026-08-21T03:28:36.039" v="1224" actId="1036"/>
        <pc:sldMkLst>
          <pc:docMk/>
          <pc:sldMk cId="0" sldId="283"/>
        </pc:sldMkLst>
        <pc:spChg chg="mod">
          <ac:chgData name="praveen kumar" userId="5091efa82044c9fd" providerId="LiveId" clId="{17CAB9B4-9869-407C-81DE-82117E326DA9}" dt="2026-08-21T03:28:36.039" v="1224" actId="1036"/>
          <ac:spMkLst>
            <pc:docMk/>
            <pc:sldMk cId="0" sldId="283"/>
            <ac:spMk id="10" creationId="{00000000-0000-0000-0000-000000000000}"/>
          </ac:spMkLst>
        </pc:spChg>
        <pc:spChg chg="mod">
          <ac:chgData name="praveen kumar" userId="5091efa82044c9fd" providerId="LiveId" clId="{17CAB9B4-9869-407C-81DE-82117E326DA9}" dt="2026-08-21T03:28:36.039" v="1224" actId="1036"/>
          <ac:spMkLst>
            <pc:docMk/>
            <pc:sldMk cId="0" sldId="283"/>
            <ac:spMk id="11" creationId="{00000000-0000-0000-0000-000000000000}"/>
          </ac:spMkLst>
        </pc:spChg>
      </pc:sldChg>
      <pc:sldChg chg="modSp mod">
        <pc:chgData name="praveen kumar" userId="5091efa82044c9fd" providerId="LiveId" clId="{17CAB9B4-9869-407C-81DE-82117E326DA9}" dt="2026-08-21T03:28:50.008" v="1286" actId="1035"/>
        <pc:sldMkLst>
          <pc:docMk/>
          <pc:sldMk cId="0" sldId="284"/>
        </pc:sldMkLst>
        <pc:spChg chg="mod">
          <ac:chgData name="praveen kumar" userId="5091efa82044c9fd" providerId="LiveId" clId="{17CAB9B4-9869-407C-81DE-82117E326DA9}" dt="2026-08-21T03:28:50.008" v="1286" actId="1035"/>
          <ac:spMkLst>
            <pc:docMk/>
            <pc:sldMk cId="0" sldId="284"/>
            <ac:spMk id="10" creationId="{00000000-0000-0000-0000-000000000000}"/>
          </ac:spMkLst>
        </pc:spChg>
        <pc:spChg chg="mod">
          <ac:chgData name="praveen kumar" userId="5091efa82044c9fd" providerId="LiveId" clId="{17CAB9B4-9869-407C-81DE-82117E326DA9}" dt="2026-08-21T03:28:50.008" v="1286" actId="1035"/>
          <ac:spMkLst>
            <pc:docMk/>
            <pc:sldMk cId="0" sldId="284"/>
            <ac:spMk id="11"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6B54-0756-1E62-1D28-0E8986B73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3CC7B6-6CB0-0E76-A8E7-336D5113B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51B97D-FBC0-CE6C-58C5-D9A52E12D41E}"/>
              </a:ext>
            </a:extLst>
          </p:cNvPr>
          <p:cNvSpPr>
            <a:spLocks noGrp="1"/>
          </p:cNvSpPr>
          <p:nvPr>
            <p:ph type="dt" sz="half" idx="10"/>
          </p:nvPr>
        </p:nvSpPr>
        <p:spPr/>
        <p:txBody>
          <a:bodyPr/>
          <a:lstStyle/>
          <a:p>
            <a:fld id="{1ABB12CB-9A0B-4B3E-A07E-FC2E410EB1AD}" type="datetimeFigureOut">
              <a:rPr lang="en-IN" smtClean="0"/>
              <a:t>01-09-2026</a:t>
            </a:fld>
            <a:endParaRPr lang="en-IN"/>
          </a:p>
        </p:txBody>
      </p:sp>
      <p:sp>
        <p:nvSpPr>
          <p:cNvPr id="5" name="Footer Placeholder 4">
            <a:extLst>
              <a:ext uri="{FF2B5EF4-FFF2-40B4-BE49-F238E27FC236}">
                <a16:creationId xmlns:a16="http://schemas.microsoft.com/office/drawing/2014/main" id="{6A7F4317-7AD1-CDEA-2EB0-50438E98D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8D0F8-F227-5208-E901-582BF07CEFEE}"/>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4190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B7AA-E271-C5F5-820F-93C35E62CF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1CCAC7-6227-B5AE-EB1A-AFEC7B9CE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9DCBF-C867-9975-7793-43E9CD32CF1B}"/>
              </a:ext>
            </a:extLst>
          </p:cNvPr>
          <p:cNvSpPr>
            <a:spLocks noGrp="1"/>
          </p:cNvSpPr>
          <p:nvPr>
            <p:ph type="dt" sz="half" idx="10"/>
          </p:nvPr>
        </p:nvSpPr>
        <p:spPr/>
        <p:txBody>
          <a:bodyPr/>
          <a:lstStyle/>
          <a:p>
            <a:fld id="{1ABB12CB-9A0B-4B3E-A07E-FC2E410EB1AD}" type="datetimeFigureOut">
              <a:rPr lang="en-IN" smtClean="0"/>
              <a:t>01-09-2026</a:t>
            </a:fld>
            <a:endParaRPr lang="en-IN"/>
          </a:p>
        </p:txBody>
      </p:sp>
      <p:sp>
        <p:nvSpPr>
          <p:cNvPr id="5" name="Footer Placeholder 4">
            <a:extLst>
              <a:ext uri="{FF2B5EF4-FFF2-40B4-BE49-F238E27FC236}">
                <a16:creationId xmlns:a16="http://schemas.microsoft.com/office/drawing/2014/main" id="{2E3DC50C-61E1-5AAF-247B-C383A689E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E3D843-E0D9-FC7B-7D3A-4D9364C9D19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70377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CFAA-CA82-0882-5FC5-0A3839AAE3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733859-1BCF-DC29-C116-582D12E0F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F7D44-2AB2-D77D-9257-438788A46D05}"/>
              </a:ext>
            </a:extLst>
          </p:cNvPr>
          <p:cNvSpPr>
            <a:spLocks noGrp="1"/>
          </p:cNvSpPr>
          <p:nvPr>
            <p:ph type="dt" sz="half" idx="10"/>
          </p:nvPr>
        </p:nvSpPr>
        <p:spPr/>
        <p:txBody>
          <a:bodyPr/>
          <a:lstStyle/>
          <a:p>
            <a:fld id="{1ABB12CB-9A0B-4B3E-A07E-FC2E410EB1AD}" type="datetimeFigureOut">
              <a:rPr lang="en-IN" smtClean="0"/>
              <a:t>01-09-2026</a:t>
            </a:fld>
            <a:endParaRPr lang="en-IN"/>
          </a:p>
        </p:txBody>
      </p:sp>
      <p:sp>
        <p:nvSpPr>
          <p:cNvPr id="5" name="Footer Placeholder 4">
            <a:extLst>
              <a:ext uri="{FF2B5EF4-FFF2-40B4-BE49-F238E27FC236}">
                <a16:creationId xmlns:a16="http://schemas.microsoft.com/office/drawing/2014/main" id="{CA576B68-0187-6750-F4F1-41369ABC1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9078C8-0028-99C3-CCCC-4DCEAC559A5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3105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0C90-C8B7-3899-ABEF-2A0BE9DD3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D06396-FF0B-818E-F231-22FDC07679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2C818C-AF51-11A6-7179-617938BBF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5182C-88BA-4D22-F137-8FCCFC21C791}"/>
              </a:ext>
            </a:extLst>
          </p:cNvPr>
          <p:cNvSpPr>
            <a:spLocks noGrp="1"/>
          </p:cNvSpPr>
          <p:nvPr>
            <p:ph type="dt" sz="half" idx="10"/>
          </p:nvPr>
        </p:nvSpPr>
        <p:spPr/>
        <p:txBody>
          <a:bodyPr/>
          <a:lstStyle/>
          <a:p>
            <a:fld id="{1ABB12CB-9A0B-4B3E-A07E-FC2E410EB1AD}" type="datetimeFigureOut">
              <a:rPr lang="en-IN" smtClean="0"/>
              <a:t>01-09-2026</a:t>
            </a:fld>
            <a:endParaRPr lang="en-IN"/>
          </a:p>
        </p:txBody>
      </p:sp>
      <p:sp>
        <p:nvSpPr>
          <p:cNvPr id="6" name="Footer Placeholder 5">
            <a:extLst>
              <a:ext uri="{FF2B5EF4-FFF2-40B4-BE49-F238E27FC236}">
                <a16:creationId xmlns:a16="http://schemas.microsoft.com/office/drawing/2014/main" id="{41C020C9-B68F-7187-72A9-6BB9C1F41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64973-DE30-79CC-3A05-06A1FD644C75}"/>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395383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4676-1F47-DBE4-43A5-8323979503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8196BD-CB62-80BB-8157-C0E1800AC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CD177-A57F-8500-65C9-63B648E8F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36A162-956B-6EC1-2CAD-6A2102677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6E6F5-52F0-47ED-4DEC-37B82A1B2C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5B8CE5-080B-7658-4DC5-81D2B43782AE}"/>
              </a:ext>
            </a:extLst>
          </p:cNvPr>
          <p:cNvSpPr>
            <a:spLocks noGrp="1"/>
          </p:cNvSpPr>
          <p:nvPr>
            <p:ph type="dt" sz="half" idx="10"/>
          </p:nvPr>
        </p:nvSpPr>
        <p:spPr/>
        <p:txBody>
          <a:bodyPr/>
          <a:lstStyle/>
          <a:p>
            <a:fld id="{1ABB12CB-9A0B-4B3E-A07E-FC2E410EB1AD}" type="datetimeFigureOut">
              <a:rPr lang="en-IN" smtClean="0"/>
              <a:t>01-09-2026</a:t>
            </a:fld>
            <a:endParaRPr lang="en-IN"/>
          </a:p>
        </p:txBody>
      </p:sp>
      <p:sp>
        <p:nvSpPr>
          <p:cNvPr id="8" name="Footer Placeholder 7">
            <a:extLst>
              <a:ext uri="{FF2B5EF4-FFF2-40B4-BE49-F238E27FC236}">
                <a16:creationId xmlns:a16="http://schemas.microsoft.com/office/drawing/2014/main" id="{84E7C1A3-C54F-AE10-57A0-2E00009E85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0A8472-E6D0-7D73-4084-53ED4028A69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39410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803-D1B6-AE55-87AC-E52D4F1E5A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D109C2-F56E-DE3A-E363-14813527FF00}"/>
              </a:ext>
            </a:extLst>
          </p:cNvPr>
          <p:cNvSpPr>
            <a:spLocks noGrp="1"/>
          </p:cNvSpPr>
          <p:nvPr>
            <p:ph type="dt" sz="half" idx="10"/>
          </p:nvPr>
        </p:nvSpPr>
        <p:spPr/>
        <p:txBody>
          <a:bodyPr/>
          <a:lstStyle/>
          <a:p>
            <a:fld id="{1ABB12CB-9A0B-4B3E-A07E-FC2E410EB1AD}" type="datetimeFigureOut">
              <a:rPr lang="en-IN" smtClean="0"/>
              <a:t>01-09-2026</a:t>
            </a:fld>
            <a:endParaRPr lang="en-IN"/>
          </a:p>
        </p:txBody>
      </p:sp>
      <p:sp>
        <p:nvSpPr>
          <p:cNvPr id="4" name="Footer Placeholder 3">
            <a:extLst>
              <a:ext uri="{FF2B5EF4-FFF2-40B4-BE49-F238E27FC236}">
                <a16:creationId xmlns:a16="http://schemas.microsoft.com/office/drawing/2014/main" id="{F366FF3B-E67A-6857-FCB5-1ADFFC4B04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C69E82-9731-7635-2964-03BD8906D233}"/>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61067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08C63-6DBC-BA5E-4264-C13F812BFC89}"/>
              </a:ext>
            </a:extLst>
          </p:cNvPr>
          <p:cNvSpPr>
            <a:spLocks noGrp="1"/>
          </p:cNvSpPr>
          <p:nvPr>
            <p:ph type="dt" sz="half" idx="10"/>
          </p:nvPr>
        </p:nvSpPr>
        <p:spPr/>
        <p:txBody>
          <a:bodyPr/>
          <a:lstStyle/>
          <a:p>
            <a:fld id="{1ABB12CB-9A0B-4B3E-A07E-FC2E410EB1AD}" type="datetimeFigureOut">
              <a:rPr lang="en-IN" smtClean="0"/>
              <a:t>01-09-2026</a:t>
            </a:fld>
            <a:endParaRPr lang="en-IN"/>
          </a:p>
        </p:txBody>
      </p:sp>
      <p:sp>
        <p:nvSpPr>
          <p:cNvPr id="3" name="Footer Placeholder 2">
            <a:extLst>
              <a:ext uri="{FF2B5EF4-FFF2-40B4-BE49-F238E27FC236}">
                <a16:creationId xmlns:a16="http://schemas.microsoft.com/office/drawing/2014/main" id="{CFCDFFCC-232E-32A5-326C-5D939E4E78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E1B074-AA0A-8083-B981-E63977FAC03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0477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4B80-1B83-172A-4F37-E7D748075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4E9B52-83FC-8D6B-D66C-F6920DDE1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05F82B-7ADD-F350-BD9F-9D324F5CE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97B04-F1D4-2834-BB11-837509BDD707}"/>
              </a:ext>
            </a:extLst>
          </p:cNvPr>
          <p:cNvSpPr>
            <a:spLocks noGrp="1"/>
          </p:cNvSpPr>
          <p:nvPr>
            <p:ph type="dt" sz="half" idx="10"/>
          </p:nvPr>
        </p:nvSpPr>
        <p:spPr/>
        <p:txBody>
          <a:bodyPr/>
          <a:lstStyle/>
          <a:p>
            <a:fld id="{1ABB12CB-9A0B-4B3E-A07E-FC2E410EB1AD}" type="datetimeFigureOut">
              <a:rPr lang="en-IN" smtClean="0"/>
              <a:t>01-09-2026</a:t>
            </a:fld>
            <a:endParaRPr lang="en-IN"/>
          </a:p>
        </p:txBody>
      </p:sp>
      <p:sp>
        <p:nvSpPr>
          <p:cNvPr id="6" name="Footer Placeholder 5">
            <a:extLst>
              <a:ext uri="{FF2B5EF4-FFF2-40B4-BE49-F238E27FC236}">
                <a16:creationId xmlns:a16="http://schemas.microsoft.com/office/drawing/2014/main" id="{56C39531-7B23-314E-E9E0-EAFBD6E4C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AA1584-EB2F-EDCB-22E9-AEB0749F0A5C}"/>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7840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3F94-2738-BAE5-2CA2-80CF2BD40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76238-16F0-EAF7-D1F2-AAC9779DB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4F3146-CC2B-BFAE-7EBF-678C83AC5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C7EEF-C4FB-1E61-2AB0-59381BE3B777}"/>
              </a:ext>
            </a:extLst>
          </p:cNvPr>
          <p:cNvSpPr>
            <a:spLocks noGrp="1"/>
          </p:cNvSpPr>
          <p:nvPr>
            <p:ph type="dt" sz="half" idx="10"/>
          </p:nvPr>
        </p:nvSpPr>
        <p:spPr/>
        <p:txBody>
          <a:bodyPr/>
          <a:lstStyle/>
          <a:p>
            <a:fld id="{1ABB12CB-9A0B-4B3E-A07E-FC2E410EB1AD}" type="datetimeFigureOut">
              <a:rPr lang="en-IN" smtClean="0"/>
              <a:t>01-09-2026</a:t>
            </a:fld>
            <a:endParaRPr lang="en-IN"/>
          </a:p>
        </p:txBody>
      </p:sp>
      <p:sp>
        <p:nvSpPr>
          <p:cNvPr id="6" name="Footer Placeholder 5">
            <a:extLst>
              <a:ext uri="{FF2B5EF4-FFF2-40B4-BE49-F238E27FC236}">
                <a16:creationId xmlns:a16="http://schemas.microsoft.com/office/drawing/2014/main" id="{1E27AA71-2F1B-AE3D-648B-1C45217D6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6FBBB0-511C-FEAA-E1A1-130B4454DAD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89820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E422-95E2-3A11-2FFC-2C0EA3C94D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97C504-1556-F0BE-4A14-88E36035E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67AB6-2061-6CC8-61BF-9EB72F917316}"/>
              </a:ext>
            </a:extLst>
          </p:cNvPr>
          <p:cNvSpPr>
            <a:spLocks noGrp="1"/>
          </p:cNvSpPr>
          <p:nvPr>
            <p:ph type="dt" sz="half" idx="10"/>
          </p:nvPr>
        </p:nvSpPr>
        <p:spPr/>
        <p:txBody>
          <a:bodyPr/>
          <a:lstStyle/>
          <a:p>
            <a:fld id="{1ABB12CB-9A0B-4B3E-A07E-FC2E410EB1AD}" type="datetimeFigureOut">
              <a:rPr lang="en-IN" smtClean="0"/>
              <a:t>01-09-2026</a:t>
            </a:fld>
            <a:endParaRPr lang="en-IN"/>
          </a:p>
        </p:txBody>
      </p:sp>
      <p:sp>
        <p:nvSpPr>
          <p:cNvPr id="5" name="Footer Placeholder 4">
            <a:extLst>
              <a:ext uri="{FF2B5EF4-FFF2-40B4-BE49-F238E27FC236}">
                <a16:creationId xmlns:a16="http://schemas.microsoft.com/office/drawing/2014/main" id="{B3E37AB4-DC1F-6BFA-851C-38F48A29FA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E9082-A394-7D88-3D70-4912A1609F3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891341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22D0D-E39A-8BBD-07BA-39D0F77E32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378952-7582-B266-6A54-7F38650A00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4BCFC-380E-1D8D-5381-DC0CAB4A0A48}"/>
              </a:ext>
            </a:extLst>
          </p:cNvPr>
          <p:cNvSpPr>
            <a:spLocks noGrp="1"/>
          </p:cNvSpPr>
          <p:nvPr>
            <p:ph type="dt" sz="half" idx="10"/>
          </p:nvPr>
        </p:nvSpPr>
        <p:spPr/>
        <p:txBody>
          <a:bodyPr/>
          <a:lstStyle/>
          <a:p>
            <a:fld id="{1ABB12CB-9A0B-4B3E-A07E-FC2E410EB1AD}" type="datetimeFigureOut">
              <a:rPr lang="en-IN" smtClean="0"/>
              <a:t>01-09-2026</a:t>
            </a:fld>
            <a:endParaRPr lang="en-IN"/>
          </a:p>
        </p:txBody>
      </p:sp>
      <p:sp>
        <p:nvSpPr>
          <p:cNvPr id="5" name="Footer Placeholder 4">
            <a:extLst>
              <a:ext uri="{FF2B5EF4-FFF2-40B4-BE49-F238E27FC236}">
                <a16:creationId xmlns:a16="http://schemas.microsoft.com/office/drawing/2014/main" id="{923A17A7-A7DF-FAD1-CF15-F67058AD14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B8FFF3-5FAF-66A7-86B8-57890766AA9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19425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1D945-8835-07E5-6C0C-5A64F7753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3D0B-0FF5-2A29-5B41-763623183D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18D1-A2A2-89DA-F288-991C56D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01-09-2026</a:t>
            </a:fld>
            <a:endParaRPr lang="en-IN"/>
          </a:p>
        </p:txBody>
      </p:sp>
      <p:sp>
        <p:nvSpPr>
          <p:cNvPr id="5" name="Footer Placeholder 4">
            <a:extLst>
              <a:ext uri="{FF2B5EF4-FFF2-40B4-BE49-F238E27FC236}">
                <a16:creationId xmlns:a16="http://schemas.microsoft.com/office/drawing/2014/main" id="{7E797BBA-6B2C-A701-AA25-DE86ACBA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BDE37B-6946-D46A-C948-999A7DF5C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spTree>
    <p:extLst>
      <p:ext uri="{BB962C8B-B14F-4D97-AF65-F5344CB8AC3E}">
        <p14:creationId xmlns:p14="http://schemas.microsoft.com/office/powerpoint/2010/main" val="1624304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AD3E1D-C7A1-62CA-B230-176A44EAF999}"/>
              </a:ext>
            </a:extLst>
          </p:cNvPr>
          <p:cNvSpPr txBox="1"/>
          <p:nvPr/>
        </p:nvSpPr>
        <p:spPr>
          <a:xfrm>
            <a:off x="533400" y="308207"/>
            <a:ext cx="11125200" cy="523220"/>
          </a:xfrm>
          <a:prstGeom prst="rect">
            <a:avLst/>
          </a:prstGeom>
          <a:noFill/>
        </p:spPr>
        <p:txBody>
          <a:bodyPr wrap="square">
            <a:spAutoFit/>
          </a:bodyPr>
          <a:lstStyle/>
          <a:p>
            <a:pPr algn="ctr" rtl="0">
              <a:buNone/>
            </a:pPr>
            <a:r>
              <a:rPr lang="en-US" sz="2800" b="1" cap="all" dirty="0">
                <a:solidFill>
                  <a:schemeClr val="accent5">
                    <a:lumMod val="50000"/>
                  </a:schemeClr>
                </a:solidFill>
                <a:latin typeface="Cambria" panose="02040503050406030204" pitchFamily="18" charset="0"/>
                <a:ea typeface="Cambria" panose="02040503050406030204" pitchFamily="18" charset="0"/>
              </a:rPr>
              <a:t>MLA0305 – REINFORCEMENT LEARNING</a:t>
            </a:r>
            <a:endParaRPr lang="en-US" sz="2800" b="1" i="0" cap="all" dirty="0">
              <a:solidFill>
                <a:schemeClr val="accent5">
                  <a:lumMod val="50000"/>
                </a:schemeClr>
              </a:solidFill>
              <a:effectLst/>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2AEE184D-CACF-C28F-CF7A-0951173397BB}"/>
              </a:ext>
            </a:extLst>
          </p:cNvPr>
          <p:cNvSpPr txBox="1"/>
          <p:nvPr/>
        </p:nvSpPr>
        <p:spPr>
          <a:xfrm>
            <a:off x="4236538" y="923760"/>
            <a:ext cx="3403782" cy="400110"/>
          </a:xfrm>
          <a:prstGeom prst="rect">
            <a:avLst/>
          </a:prstGeom>
          <a:noFill/>
        </p:spPr>
        <p:txBody>
          <a:bodyPr wrap="square">
            <a:spAutoFit/>
          </a:bodyPr>
          <a:lstStyle/>
          <a:p>
            <a:r>
              <a:rPr lang="en-IN" sz="2000" b="1" i="0" dirty="0">
                <a:solidFill>
                  <a:schemeClr val="accent6">
                    <a:lumMod val="75000"/>
                  </a:schemeClr>
                </a:solidFill>
                <a:effectLst/>
                <a:latin typeface="Cambria" panose="02040503050406030204" pitchFamily="18" charset="0"/>
                <a:ea typeface="Cambria" panose="02040503050406030204" pitchFamily="18" charset="0"/>
              </a:rPr>
              <a:t>MS1 Jul-Sep 2026 - SLOT </a:t>
            </a:r>
            <a:r>
              <a:rPr lang="en-IN" sz="2000" b="1" dirty="0">
                <a:solidFill>
                  <a:schemeClr val="accent6">
                    <a:lumMod val="75000"/>
                  </a:schemeClr>
                </a:solidFill>
                <a:latin typeface="Cambria" panose="02040503050406030204" pitchFamily="18" charset="0"/>
                <a:ea typeface="Cambria" panose="02040503050406030204" pitchFamily="18" charset="0"/>
              </a:rPr>
              <a:t>B</a:t>
            </a:r>
            <a:endParaRPr lang="en-IN" sz="2000" dirty="0">
              <a:solidFill>
                <a:schemeClr val="accent6">
                  <a:lumMod val="75000"/>
                </a:schemeClr>
              </a:solidFill>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5898A4E7-D69E-C448-1FC2-8DE2EBECF36A}"/>
              </a:ext>
            </a:extLst>
          </p:cNvPr>
          <p:cNvSpPr txBox="1"/>
          <p:nvPr/>
        </p:nvSpPr>
        <p:spPr>
          <a:xfrm>
            <a:off x="5810865" y="4718838"/>
            <a:ext cx="6381136" cy="2246769"/>
          </a:xfrm>
          <a:prstGeom prst="rect">
            <a:avLst/>
          </a:prstGeom>
          <a:noFill/>
        </p:spPr>
        <p:txBody>
          <a:bodyPr wrap="square">
            <a:spAutoFit/>
          </a:bodyPr>
          <a:lstStyle/>
          <a:p>
            <a:pPr lvl="1">
              <a:spcBef>
                <a:spcPts val="550"/>
              </a:spcBef>
              <a:buClr>
                <a:srgbClr val="4F81BD"/>
              </a:buClr>
              <a:buSzPct val="70000"/>
            </a:pPr>
            <a:r>
              <a:rPr lang="en-US" sz="2000"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Presented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192472034 – C. Praveen Kumar</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192425350 – Akshaya </a:t>
            </a:r>
            <a:r>
              <a:rPr lang="en-US" sz="2000" b="1">
                <a:solidFill>
                  <a:srgbClr val="C00000"/>
                </a:solidFill>
                <a:latin typeface="Cambria" panose="02040503050406030204" pitchFamily="18" charset="0"/>
                <a:ea typeface="Cambria" panose="02040503050406030204" pitchFamily="18" charset="0"/>
                <a:cs typeface="Times New Roman" pitchFamily="18" charset="0"/>
              </a:rPr>
              <a:t>Kumar </a:t>
            </a:r>
            <a:r>
              <a:rPr lang="en-US" sz="2000" b="1">
                <a:solidFill>
                  <a:srgbClr val="EE0000"/>
                </a:solidFill>
                <a:latin typeface="Cambria" panose="02040503050406030204" pitchFamily="18" charset="0"/>
                <a:ea typeface="Cambria" panose="02040503050406030204" pitchFamily="18" charset="0"/>
                <a:cs typeface="Times New Roman" pitchFamily="18" charset="0"/>
              </a:rPr>
              <a:t>Chandrasekar</a:t>
            </a:r>
            <a:endParaRPr lang="en-US" sz="2000" b="1" dirty="0">
              <a:solidFill>
                <a:srgbClr val="EE0000"/>
              </a:solidFill>
              <a:latin typeface="Cambria" panose="02040503050406030204" pitchFamily="18" charset="0"/>
              <a:ea typeface="Cambria" panose="02040503050406030204" pitchFamily="18" charset="0"/>
              <a:cs typeface="Times New Roman" pitchFamily="18" charset="0"/>
            </a:endParaRP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192472368 – </a:t>
            </a:r>
            <a:r>
              <a:rPr lang="en-US" sz="2000" b="1" dirty="0" err="1">
                <a:solidFill>
                  <a:srgbClr val="C00000"/>
                </a:solidFill>
                <a:latin typeface="Cambria" panose="02040503050406030204" pitchFamily="18" charset="0"/>
                <a:ea typeface="Cambria" panose="02040503050406030204" pitchFamily="18" charset="0"/>
                <a:cs typeface="Times New Roman" pitchFamily="18" charset="0"/>
              </a:rPr>
              <a:t>C.Sandeep</a:t>
            </a:r>
            <a:endParaRPr lang="en-US" sz="2000" b="1" dirty="0">
              <a:solidFill>
                <a:srgbClr val="C00000"/>
              </a:solidFill>
              <a:latin typeface="Cambria" panose="02040503050406030204" pitchFamily="18" charset="0"/>
              <a:ea typeface="Cambria" panose="02040503050406030204" pitchFamily="18" charset="0"/>
              <a:cs typeface="Times New Roman" pitchFamily="18" charset="0"/>
            </a:endParaRP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192472093 – </a:t>
            </a:r>
            <a:r>
              <a:rPr lang="en-US" sz="2000" b="1" dirty="0" err="1">
                <a:solidFill>
                  <a:srgbClr val="C00000"/>
                </a:solidFill>
                <a:latin typeface="Cambria" panose="02040503050406030204" pitchFamily="18" charset="0"/>
                <a:ea typeface="Cambria" panose="02040503050406030204" pitchFamily="18" charset="0"/>
                <a:cs typeface="Times New Roman" pitchFamily="18" charset="0"/>
              </a:rPr>
              <a:t>G.Vinay</a:t>
            </a:r>
            <a:r>
              <a:rPr lang="en-US" sz="2000" b="1" dirty="0">
                <a:solidFill>
                  <a:srgbClr val="C00000"/>
                </a:solidFill>
                <a:latin typeface="Cambria" panose="02040503050406030204" pitchFamily="18" charset="0"/>
                <a:ea typeface="Cambria" panose="02040503050406030204" pitchFamily="18" charset="0"/>
                <a:cs typeface="Times New Roman" pitchFamily="18" charset="0"/>
              </a:rPr>
              <a:t> Kumar Reddy</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192425221 – </a:t>
            </a:r>
            <a:r>
              <a:rPr lang="en-US" sz="2000" b="1" dirty="0" err="1">
                <a:solidFill>
                  <a:srgbClr val="C00000"/>
                </a:solidFill>
                <a:latin typeface="Cambria" panose="02040503050406030204" pitchFamily="18" charset="0"/>
                <a:ea typeface="Cambria" panose="02040503050406030204" pitchFamily="18" charset="0"/>
                <a:cs typeface="Times New Roman" pitchFamily="18" charset="0"/>
              </a:rPr>
              <a:t>D.DeviSriPrasad</a:t>
            </a:r>
            <a:endParaRPr lang="en-US" sz="2000" b="1" dirty="0">
              <a:solidFill>
                <a:srgbClr val="002060"/>
              </a:solidFill>
              <a:latin typeface="Cambria" panose="02040503050406030204" pitchFamily="18" charset="0"/>
              <a:ea typeface="Cambria" panose="02040503050406030204" pitchFamily="18" charset="0"/>
              <a:cs typeface="Times New Roman" pitchFamily="18" charset="0"/>
            </a:endParaRPr>
          </a:p>
        </p:txBody>
      </p:sp>
      <p:sp>
        <p:nvSpPr>
          <p:cNvPr id="13" name="TextBox 12">
            <a:extLst>
              <a:ext uri="{FF2B5EF4-FFF2-40B4-BE49-F238E27FC236}">
                <a16:creationId xmlns:a16="http://schemas.microsoft.com/office/drawing/2014/main" id="{82CDEA37-C6AC-1EE2-8FFE-209ACD903C9A}"/>
              </a:ext>
            </a:extLst>
          </p:cNvPr>
          <p:cNvSpPr txBox="1"/>
          <p:nvPr/>
        </p:nvSpPr>
        <p:spPr>
          <a:xfrm>
            <a:off x="283028" y="1293985"/>
            <a:ext cx="11756572" cy="1077218"/>
          </a:xfrm>
          <a:prstGeom prst="rect">
            <a:avLst/>
          </a:prstGeom>
          <a:noFill/>
        </p:spPr>
        <p:txBody>
          <a:bodyPr wrap="square">
            <a:spAutoFit/>
          </a:bodyPr>
          <a:lstStyle/>
          <a:p>
            <a:pPr marL="36195" marR="0" algn="ctr">
              <a:spcAft>
                <a:spcPts val="600"/>
              </a:spcAft>
              <a:buNone/>
            </a:pPr>
            <a:r>
              <a:rPr lang="en-US" sz="3200" b="1" dirty="0">
                <a:solidFill>
                  <a:schemeClr val="accent2">
                    <a:lumMod val="50000"/>
                  </a:schemeClr>
                </a:solidFill>
                <a:latin typeface="Cambria" panose="02040503050406030204" pitchFamily="18" charset="0"/>
                <a:ea typeface="Cambria" panose="02040503050406030204" pitchFamily="18" charset="0"/>
              </a:rPr>
              <a:t>Project Phoenix: Ai-Powered Zombie Survival Using Multi-Agent Reinforcement Learning and Agent-Based Simulation</a:t>
            </a:r>
            <a:endParaRPr lang="en-IN" sz="3200" b="1" dirty="0">
              <a:solidFill>
                <a:schemeClr val="accent2">
                  <a:lumMod val="50000"/>
                </a:schemeClr>
              </a:solidFill>
              <a:effectLst/>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0186E62-555B-E8F9-1FBB-0D22F74BA20A}"/>
              </a:ext>
            </a:extLst>
          </p:cNvPr>
          <p:cNvSpPr txBox="1"/>
          <p:nvPr/>
        </p:nvSpPr>
        <p:spPr>
          <a:xfrm>
            <a:off x="182879" y="4887801"/>
            <a:ext cx="530352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3">
                    <a:lumMod val="50000"/>
                  </a:schemeClr>
                </a:solidFill>
                <a:latin typeface="Cambria" panose="02040503050406030204" pitchFamily="18" charset="0"/>
                <a:ea typeface="Cambria" panose="02040503050406030204" pitchFamily="18" charset="0"/>
                <a:cs typeface="Times New Roman" pitchFamily="18" charset="0"/>
              </a:rPr>
              <a:t>Guided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i="1" dirty="0">
                <a:solidFill>
                  <a:srgbClr val="0070C0"/>
                </a:solidFill>
                <a:latin typeface="Cambria" panose="02040503050406030204" pitchFamily="18" charset="0"/>
                <a:ea typeface="Cambria" panose="02040503050406030204" pitchFamily="18" charset="0"/>
                <a:cs typeface="Times New Roman" pitchFamily="18" charset="0"/>
              </a:rPr>
              <a:t>Dr. Vincent Gnanaraj T</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Associate Professor</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Department of Quantum Intelligence</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SIMATS Engineering</a:t>
            </a:r>
            <a:r>
              <a:rPr lang="en-US" sz="2000" b="1" dirty="0">
                <a:solidFill>
                  <a:srgbClr val="002060"/>
                </a:solidFill>
                <a:latin typeface="Cambria" panose="02040503050406030204" pitchFamily="18" charset="0"/>
                <a:ea typeface="Cambria" panose="02040503050406030204" pitchFamily="18" charset="0"/>
                <a:cs typeface="Times New Roman" pitchFamily="18" charset="0"/>
              </a:rPr>
              <a:t>	</a:t>
            </a:r>
            <a:endParaRPr lang="en-IN" sz="20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AB1C23F7-28A4-1325-E0B3-04EC6FB99600}"/>
              </a:ext>
            </a:extLst>
          </p:cNvPr>
          <p:cNvPicPr>
            <a:picLocks noChangeAspect="1"/>
          </p:cNvPicPr>
          <p:nvPr/>
        </p:nvPicPr>
        <p:blipFill>
          <a:blip r:embed="rId2"/>
          <a:stretch>
            <a:fillRect/>
          </a:stretch>
        </p:blipFill>
        <p:spPr>
          <a:xfrm>
            <a:off x="533400" y="2371204"/>
            <a:ext cx="11125200" cy="2349883"/>
          </a:xfrm>
          <a:prstGeom prst="rect">
            <a:avLst/>
          </a:prstGeom>
        </p:spPr>
      </p:pic>
    </p:spTree>
    <p:extLst>
      <p:ext uri="{BB962C8B-B14F-4D97-AF65-F5344CB8AC3E}">
        <p14:creationId xmlns:p14="http://schemas.microsoft.com/office/powerpoint/2010/main" val="223503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1B6F94-3F67-6C03-6A1C-E70F63E32428}"/>
              </a:ext>
            </a:extLst>
          </p:cNvPr>
          <p:cNvSpPr txBox="1"/>
          <p:nvPr/>
        </p:nvSpPr>
        <p:spPr>
          <a:xfrm>
            <a:off x="5016862" y="344381"/>
            <a:ext cx="21582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Abstract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AEB2E3B9-103C-0A4E-E38E-D18457838DB6}"/>
              </a:ext>
            </a:extLst>
          </p:cNvPr>
          <p:cNvSpPr txBox="1"/>
          <p:nvPr/>
        </p:nvSpPr>
        <p:spPr>
          <a:xfrm>
            <a:off x="960562" y="2111887"/>
            <a:ext cx="10485120" cy="3139321"/>
          </a:xfrm>
          <a:prstGeom prst="rect">
            <a:avLst/>
          </a:prstGeom>
          <a:noFill/>
        </p:spPr>
        <p:txBody>
          <a:bodyPr wrap="square">
            <a:spAutoFit/>
          </a:bodyPr>
          <a:lstStyle/>
          <a:p>
            <a:pPr algn="just">
              <a:buNone/>
            </a:pPr>
            <a:r>
              <a:rPr lang="en-IN" dirty="0">
                <a:latin typeface="Cambria" panose="02040503050406030204" pitchFamily="18" charset="0"/>
                <a:ea typeface="Cambria" panose="02040503050406030204" pitchFamily="18" charset="0"/>
              </a:rPr>
              <a:t>This study presents an intelligent framework for </a:t>
            </a:r>
            <a:r>
              <a:rPr lang="en-IN" dirty="0" err="1">
                <a:latin typeface="Cambria" panose="02040503050406030204" pitchFamily="18" charset="0"/>
                <a:ea typeface="Cambria" panose="02040503050406030204" pitchFamily="18" charset="0"/>
              </a:rPr>
              <a:t>modeling</a:t>
            </a:r>
            <a:r>
              <a:rPr lang="en-IN" dirty="0">
                <a:latin typeface="Cambria" panose="02040503050406030204" pitchFamily="18" charset="0"/>
                <a:ea typeface="Cambria" panose="02040503050406030204" pitchFamily="18" charset="0"/>
              </a:rPr>
              <a:t> zombie survival scenarios using Multi-Agent Reinforcement Learning and Agent-Based Simulation. A synthetic dataset is generated using a Gaussian Mixture Model (GMM) to represent realistic survivor, zombie, and environmental conditions. The proposed system enables survivor agents to learn optimal strategies through Reinforcement Learning while adapting to dynamic environments. Simulation experiments are conducted to evaluate survival performance, resource utilization, and decision-making efficiency. Statistical analysis and visualization techniques are used to interpret simulation outcomes and compare system performance. The developed framework provides a scalable and flexible solution for studying intelligent agent </a:t>
            </a:r>
            <a:r>
              <a:rPr lang="en-IN" dirty="0" err="1">
                <a:latin typeface="Cambria" panose="02040503050406030204" pitchFamily="18" charset="0"/>
                <a:ea typeface="Cambria" panose="02040503050406030204" pitchFamily="18" charset="0"/>
              </a:rPr>
              <a:t>behavior</a:t>
            </a:r>
            <a:r>
              <a:rPr lang="en-IN" dirty="0">
                <a:latin typeface="Cambria" panose="02040503050406030204" pitchFamily="18" charset="0"/>
                <a:ea typeface="Cambria" panose="02040503050406030204" pitchFamily="18" charset="0"/>
              </a:rPr>
              <a:t> in complex environments. Experimental results demonstrate improved adaptability and effectiveness compared to conventional simulation methods. Future work includes integrating advanced Deep Reinforcement Learning techniques and validating the framework with more realistic simulation scenarios.</a:t>
            </a:r>
            <a:endParaRPr lang="en-IN" i="1"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8138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E5A181-EA67-C6D5-8250-ED82E7D13CC1}"/>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Introduction</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B1F3BC88-8D23-52E9-2B50-B62189EC34C8}"/>
              </a:ext>
            </a:extLst>
          </p:cNvPr>
          <p:cNvSpPr txBox="1"/>
          <p:nvPr/>
        </p:nvSpPr>
        <p:spPr>
          <a:xfrm>
            <a:off x="375556" y="1440877"/>
            <a:ext cx="11440886" cy="5442452"/>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Project Phoenix is an AI-based simulation system that models zombie survival scenarios in a dynamic and interactive environment.</a:t>
            </a:r>
          </a:p>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The project combines Agent-Based Simulation and Multi-Agent Reinforcement Learning to study intelligent decision-making and survival strategies.</a:t>
            </a:r>
          </a:p>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A Gaussian Mixture Model (GMM) is used to generate realistic synthetic datasets representing survivors, zombies, and environmental conditions.</a:t>
            </a:r>
          </a:p>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Survivor agents learn optimal actions through Q-Learning, adapting their </a:t>
            </a:r>
            <a:r>
              <a:rPr lang="en-IN" dirty="0" err="1">
                <a:latin typeface="Cambria" panose="02040503050406030204" pitchFamily="18" charset="0"/>
                <a:ea typeface="Cambria" panose="02040503050406030204" pitchFamily="18" charset="0"/>
              </a:rPr>
              <a:t>behavior</a:t>
            </a:r>
            <a:r>
              <a:rPr lang="en-IN" dirty="0">
                <a:latin typeface="Cambria" panose="02040503050406030204" pitchFamily="18" charset="0"/>
                <a:ea typeface="Cambria" panose="02040503050406030204" pitchFamily="18" charset="0"/>
              </a:rPr>
              <a:t> based on rewards and changing situations.</a:t>
            </a:r>
          </a:p>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The system provides interactive visualizations and statistical analysis to evaluate survival performance and learning efficiency.</a:t>
            </a:r>
          </a:p>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This framework demonstrates the application of AI techniques for autonomous decision-making and can be extended to disaster management and emergency response simulations.</a:t>
            </a:r>
          </a:p>
          <a:p>
            <a:pPr algn="just">
              <a:lnSpc>
                <a:spcPct val="150000"/>
              </a:lnSpc>
            </a:pPr>
            <a:endParaRPr lang="en-US" dirty="0">
              <a:solidFill>
                <a:schemeClr val="tx1">
                  <a:lumMod val="85000"/>
                  <a:lumOff val="1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931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30AAD2FB-1672-B38E-DE0A-21992D53C5CE}"/>
              </a:ext>
            </a:extLst>
          </p:cNvPr>
          <p:cNvGraphicFramePr>
            <a:graphicFrameLocks noGrp="1"/>
          </p:cNvGraphicFramePr>
          <p:nvPr>
            <p:extLst>
              <p:ext uri="{D42A27DB-BD31-4B8C-83A1-F6EECF244321}">
                <p14:modId xmlns:p14="http://schemas.microsoft.com/office/powerpoint/2010/main" val="1348418138"/>
              </p:ext>
            </p:extLst>
          </p:nvPr>
        </p:nvGraphicFramePr>
        <p:xfrm>
          <a:off x="231321" y="824140"/>
          <a:ext cx="11729357" cy="5390880"/>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ctr" fontAlgn="ctr">
                        <a:buNone/>
                      </a:pPr>
                      <a:r>
                        <a:rPr lang="en-US" sz="1600" b="1" i="0" u="none" strike="noStrike" dirty="0">
                          <a:solidFill>
                            <a:schemeClr val="tx1">
                              <a:lumMod val="85000"/>
                              <a:lumOff val="15000"/>
                            </a:schemeClr>
                          </a:solidFill>
                          <a:effectLst/>
                          <a:latin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dirty="0">
                          <a:solidFill>
                            <a:schemeClr val="tx1">
                              <a:lumMod val="85000"/>
                              <a:lumOff val="15000"/>
                            </a:schemeClr>
                          </a:solidFill>
                          <a:effectLst/>
                          <a:latin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586211">
                <a:tc>
                  <a:txBody>
                    <a:bodyPr/>
                    <a:lstStyle/>
                    <a:p>
                      <a:pPr algn="l" fontAlgn="ctr">
                        <a:buNone/>
                      </a:pPr>
                      <a:r>
                        <a:rPr lang="en-IN" sz="1600" dirty="0">
                          <a:latin typeface="Cambria" panose="02040503050406030204" pitchFamily="18" charset="0"/>
                          <a:ea typeface="Cambria" panose="02040503050406030204" pitchFamily="18" charset="0"/>
                        </a:rPr>
                        <a:t>Jixiang Li, </a:t>
                      </a:r>
                      <a:r>
                        <a:rPr lang="en-IN" sz="1600" dirty="0" err="1">
                          <a:latin typeface="Cambria" panose="02040503050406030204" pitchFamily="18" charset="0"/>
                          <a:ea typeface="Cambria" panose="02040503050406030204" pitchFamily="18" charset="0"/>
                        </a:rPr>
                        <a:t>Baishu</a:t>
                      </a:r>
                      <a:r>
                        <a:rPr lang="en-IN" sz="1600" dirty="0">
                          <a:latin typeface="Cambria" panose="02040503050406030204" pitchFamily="18" charset="0"/>
                          <a:ea typeface="Cambria" panose="02040503050406030204" pitchFamily="18" charset="0"/>
                        </a:rPr>
                        <a:t> Wan, </a:t>
                      </a:r>
                      <a:r>
                        <a:rPr lang="en-IN" sz="1600" dirty="0" err="1">
                          <a:latin typeface="Cambria" panose="02040503050406030204" pitchFamily="18" charset="0"/>
                          <a:ea typeface="Cambria" panose="02040503050406030204" pitchFamily="18" charset="0"/>
                        </a:rPr>
                        <a:t>Zhigong</a:t>
                      </a:r>
                      <a:r>
                        <a:rPr lang="en-IN" sz="1600" dirty="0">
                          <a:latin typeface="Cambria" panose="02040503050406030204" pitchFamily="18" charset="0"/>
                          <a:ea typeface="Cambria" panose="02040503050406030204" pitchFamily="18" charset="0"/>
                        </a:rPr>
                        <a:t> Song (2026), Engineering Applications of Artificial Intelligence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Multi-Agent Deep Reinforcement Learning for Group Intelligence in Emergency Evacuation: A Decentralized Simulation-to-Reality Platform with Perception-Aware Policies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Proposed a decentralized multi-agent deep reinforcement learning framework that enables cooperative agent </a:t>
                      </a:r>
                      <a:r>
                        <a:rPr lang="en-IN" sz="1600" dirty="0" err="1">
                          <a:latin typeface="Cambria" panose="02040503050406030204" pitchFamily="18" charset="0"/>
                          <a:ea typeface="Cambria" panose="02040503050406030204" pitchFamily="18" charset="0"/>
                        </a:rPr>
                        <a:t>behavior</a:t>
                      </a:r>
                      <a:r>
                        <a:rPr lang="en-IN" sz="1600" dirty="0">
                          <a:latin typeface="Cambria" panose="02040503050406030204" pitchFamily="18" charset="0"/>
                          <a:ea typeface="Cambria" panose="02040503050406030204" pitchFamily="18" charset="0"/>
                        </a:rPr>
                        <a:t> and adaptive decision-making in complex emergency environments.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l" fontAlgn="ctr">
                        <a:buNone/>
                      </a:pPr>
                      <a:r>
                        <a:rPr lang="en-IN" sz="1600" dirty="0" err="1">
                          <a:latin typeface="Cambria" panose="02040503050406030204" pitchFamily="18" charset="0"/>
                          <a:ea typeface="Cambria" panose="02040503050406030204" pitchFamily="18" charset="0"/>
                        </a:rPr>
                        <a:t>Fitkau</a:t>
                      </a:r>
                      <a:r>
                        <a:rPr lang="en-IN" sz="1600" dirty="0">
                          <a:latin typeface="Cambria" panose="02040503050406030204" pitchFamily="18" charset="0"/>
                          <a:ea typeface="Cambria" panose="02040503050406030204" pitchFamily="18" charset="0"/>
                        </a:rPr>
                        <a:t> et al. (2025), EG-ICE International Conference on Intelligent Computing in Engineering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Applying Multi-Agent Reinforcement Learning for Escape Path Planning in a Fire Evacuation Environment</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Demonstrated that multi-agent reinforcement learning can optimize escape paths by allowing agents to learn effective strategies in dynamic evacuation scenarios.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Shaqayeq </a:t>
                      </a:r>
                      <a:r>
                        <a:rPr lang="en-IN" sz="1600" dirty="0" err="1">
                          <a:latin typeface="Cambria" panose="02040503050406030204" pitchFamily="18" charset="0"/>
                          <a:ea typeface="Cambria" panose="02040503050406030204" pitchFamily="18" charset="0"/>
                        </a:rPr>
                        <a:t>Omidbeyk</a:t>
                      </a:r>
                      <a:r>
                        <a:rPr lang="en-IN" sz="1600" dirty="0">
                          <a:latin typeface="Cambria" panose="02040503050406030204" pitchFamily="18" charset="0"/>
                          <a:ea typeface="Cambria" panose="02040503050406030204" pitchFamily="18" charset="0"/>
                        </a:rPr>
                        <a:t>, Seyed Morsal Ghavami (2025), Journal of Building Engineering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Multi-Agent Simulation of Population Evacuation During Dynamic Fire Using Reinforcement Learning Based on Integration of GIS and BIM</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Developed a reinforcement learning-based evacuation simulation model that improved adaptive movement strategies under changing environmental conditions.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Thomy Phan et al. (2020), AAMAS – International Conference on Autonomous Agents and Multiagent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Learning and Testing Resilience in Cooperative Multi-Agent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Investigated cooperative multi-agent reinforcement learning approaches for improving resilience, coordination, and adaptability among autonomous agents.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r h="708357">
                <a:tc>
                  <a:txBody>
                    <a:bodyPr/>
                    <a:lstStyle/>
                    <a:p>
                      <a:pPr algn="l" fontAlgn="ctr">
                        <a:buNone/>
                      </a:pPr>
                      <a:r>
                        <a:rPr lang="en-IN" sz="1600" dirty="0">
                          <a:latin typeface="Cambria" panose="02040503050406030204" pitchFamily="18" charset="0"/>
                          <a:ea typeface="Cambria" panose="02040503050406030204" pitchFamily="18" charset="0"/>
                        </a:rPr>
                        <a:t>Mahdi </a:t>
                      </a:r>
                      <a:r>
                        <a:rPr lang="en-IN" sz="1600" dirty="0" err="1">
                          <a:latin typeface="Cambria" panose="02040503050406030204" pitchFamily="18" charset="0"/>
                          <a:ea typeface="Cambria" panose="02040503050406030204" pitchFamily="18" charset="0"/>
                        </a:rPr>
                        <a:t>Keykhaei</a:t>
                      </a:r>
                      <a:r>
                        <a:rPr lang="en-IN" sz="1600" dirty="0">
                          <a:latin typeface="Cambria" panose="02040503050406030204" pitchFamily="18" charset="0"/>
                          <a:ea typeface="Cambria" panose="02040503050406030204" pitchFamily="18" charset="0"/>
                        </a:rPr>
                        <a:t>, </a:t>
                      </a:r>
                      <a:r>
                        <a:rPr lang="en-IN" sz="1600" dirty="0" err="1">
                          <a:latin typeface="Cambria" panose="02040503050406030204" pitchFamily="18" charset="0"/>
                          <a:ea typeface="Cambria" panose="02040503050406030204" pitchFamily="18" charset="0"/>
                        </a:rPr>
                        <a:t>Najmeh</a:t>
                      </a:r>
                      <a:r>
                        <a:rPr lang="en-IN" sz="1600" dirty="0">
                          <a:latin typeface="Cambria" panose="02040503050406030204" pitchFamily="18" charset="0"/>
                          <a:ea typeface="Cambria" panose="02040503050406030204" pitchFamily="18" charset="0"/>
                        </a:rPr>
                        <a:t> </a:t>
                      </a:r>
                      <a:r>
                        <a:rPr lang="en-IN" sz="1600" dirty="0" err="1">
                          <a:latin typeface="Cambria" panose="02040503050406030204" pitchFamily="18" charset="0"/>
                          <a:ea typeface="Cambria" panose="02040503050406030204" pitchFamily="18" charset="0"/>
                        </a:rPr>
                        <a:t>Neysani</a:t>
                      </a:r>
                      <a:r>
                        <a:rPr lang="en-IN" sz="1600" dirty="0">
                          <a:latin typeface="Cambria" panose="02040503050406030204" pitchFamily="18" charset="0"/>
                          <a:ea typeface="Cambria" panose="02040503050406030204" pitchFamily="18" charset="0"/>
                        </a:rPr>
                        <a:t> </a:t>
                      </a:r>
                      <a:r>
                        <a:rPr lang="en-IN" sz="1600" dirty="0" err="1">
                          <a:latin typeface="Cambria" panose="02040503050406030204" pitchFamily="18" charset="0"/>
                          <a:ea typeface="Cambria" panose="02040503050406030204" pitchFamily="18" charset="0"/>
                        </a:rPr>
                        <a:t>Samany</a:t>
                      </a:r>
                      <a:r>
                        <a:rPr lang="en-IN" sz="1600" dirty="0">
                          <a:latin typeface="Cambria" panose="02040503050406030204" pitchFamily="18" charset="0"/>
                          <a:ea typeface="Cambria" panose="02040503050406030204" pitchFamily="18" charset="0"/>
                        </a:rPr>
                        <a:t>, Mohammadreza </a:t>
                      </a:r>
                      <a:r>
                        <a:rPr lang="en-IN" sz="1600" dirty="0" err="1">
                          <a:latin typeface="Cambria" panose="02040503050406030204" pitchFamily="18" charset="0"/>
                          <a:ea typeface="Cambria" panose="02040503050406030204" pitchFamily="18" charset="0"/>
                        </a:rPr>
                        <a:t>Jelokhani-Niaraki</a:t>
                      </a:r>
                      <a:r>
                        <a:rPr lang="en-IN" sz="1600" dirty="0">
                          <a:latin typeface="Cambria" panose="02040503050406030204" pitchFamily="18" charset="0"/>
                          <a:ea typeface="Cambria" panose="02040503050406030204" pitchFamily="18" charset="0"/>
                        </a:rPr>
                        <a:t>, Sisi </a:t>
                      </a:r>
                      <a:r>
                        <a:rPr lang="en-IN" sz="1600" dirty="0" err="1">
                          <a:latin typeface="Cambria" panose="02040503050406030204" pitchFamily="18" charset="0"/>
                          <a:ea typeface="Cambria" panose="02040503050406030204" pitchFamily="18" charset="0"/>
                        </a:rPr>
                        <a:t>Zlatanova</a:t>
                      </a:r>
                      <a:r>
                        <a:rPr lang="en-IN" sz="1600" dirty="0">
                          <a:latin typeface="Cambria" panose="02040503050406030204" pitchFamily="18" charset="0"/>
                          <a:ea typeface="Cambria" panose="02040503050406030204" pitchFamily="18" charset="0"/>
                        </a:rPr>
                        <a:t> (2023), Geo-spatial Information Science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Situation-Aware Emergency Evacuation (SAEE) Model Using Multi-Agent-Based Simulation for Crisis Management after Earthquake Warning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Proposed a situation-aware multi-agent simulation framework for efficient emergency evacuation and crisis management.</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606414"/>
                  </a:ext>
                </a:extLst>
              </a:tr>
            </a:tbl>
          </a:graphicData>
        </a:graphic>
      </p:graphicFrame>
      <p:sp>
        <p:nvSpPr>
          <p:cNvPr id="12" name="TextBox 11">
            <a:extLst>
              <a:ext uri="{FF2B5EF4-FFF2-40B4-BE49-F238E27FC236}">
                <a16:creationId xmlns:a16="http://schemas.microsoft.com/office/drawing/2014/main" id="{4A2ACC86-2FAE-F7FE-7D6B-DECA40382D9A}"/>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243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4F9E42-57AC-8205-958B-9079789B4498}"/>
              </a:ext>
            </a:extLst>
          </p:cNvPr>
          <p:cNvSpPr txBox="1"/>
          <p:nvPr/>
        </p:nvSpPr>
        <p:spPr>
          <a:xfrm>
            <a:off x="4315653" y="0"/>
            <a:ext cx="356069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graphicFrame>
        <p:nvGraphicFramePr>
          <p:cNvPr id="5" name="Table 4">
            <a:extLst>
              <a:ext uri="{FF2B5EF4-FFF2-40B4-BE49-F238E27FC236}">
                <a16:creationId xmlns:a16="http://schemas.microsoft.com/office/drawing/2014/main" id="{9CD5A324-0883-5B04-8F17-335304B9FEEB}"/>
              </a:ext>
            </a:extLst>
          </p:cNvPr>
          <p:cNvGraphicFramePr>
            <a:graphicFrameLocks noGrp="1"/>
          </p:cNvGraphicFramePr>
          <p:nvPr>
            <p:extLst>
              <p:ext uri="{D42A27DB-BD31-4B8C-83A1-F6EECF244321}">
                <p14:modId xmlns:p14="http://schemas.microsoft.com/office/powerpoint/2010/main" val="2067806492"/>
              </p:ext>
            </p:extLst>
          </p:nvPr>
        </p:nvGraphicFramePr>
        <p:xfrm>
          <a:off x="203200" y="748665"/>
          <a:ext cx="11795578" cy="5147040"/>
        </p:xfrm>
        <a:graphic>
          <a:graphicData uri="http://schemas.openxmlformats.org/drawingml/2006/table">
            <a:tbl>
              <a:tblPr/>
              <a:tblGrid>
                <a:gridCol w="3794656">
                  <a:extLst>
                    <a:ext uri="{9D8B030D-6E8A-4147-A177-3AD203B41FA5}">
                      <a16:colId xmlns:a16="http://schemas.microsoft.com/office/drawing/2014/main" val="1761667919"/>
                    </a:ext>
                  </a:extLst>
                </a:gridCol>
                <a:gridCol w="3748682">
                  <a:extLst>
                    <a:ext uri="{9D8B030D-6E8A-4147-A177-3AD203B41FA5}">
                      <a16:colId xmlns:a16="http://schemas.microsoft.com/office/drawing/2014/main" val="752024861"/>
                    </a:ext>
                  </a:extLst>
                </a:gridCol>
                <a:gridCol w="4252240">
                  <a:extLst>
                    <a:ext uri="{9D8B030D-6E8A-4147-A177-3AD203B41FA5}">
                      <a16:colId xmlns:a16="http://schemas.microsoft.com/office/drawing/2014/main" val="590791988"/>
                    </a:ext>
                  </a:extLst>
                </a:gridCol>
              </a:tblGrid>
              <a:tr h="202388">
                <a:tc>
                  <a:txBody>
                    <a:bodyPr/>
                    <a:lstStyle/>
                    <a:p>
                      <a:pPr algn="ctr" fontAlgn="ctr">
                        <a:buNone/>
                      </a:pPr>
                      <a:r>
                        <a:rPr lang="en-US" sz="1600" b="1" i="0" u="none" strike="noStrike" dirty="0">
                          <a:solidFill>
                            <a:schemeClr val="tx1">
                              <a:lumMod val="85000"/>
                              <a:lumOff val="15000"/>
                            </a:schemeClr>
                          </a:solidFill>
                          <a:effectLst/>
                          <a:latin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dirty="0">
                          <a:solidFill>
                            <a:schemeClr val="tx1">
                              <a:lumMod val="85000"/>
                              <a:lumOff val="15000"/>
                            </a:schemeClr>
                          </a:solidFill>
                          <a:effectLst/>
                          <a:latin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0386559"/>
                  </a:ext>
                </a:extLst>
              </a:tr>
              <a:tr h="586211">
                <a:tc>
                  <a:txBody>
                    <a:bodyPr/>
                    <a:lstStyle/>
                    <a:p>
                      <a:pPr algn="l" fontAlgn="ctr">
                        <a:buNone/>
                      </a:pPr>
                      <a:r>
                        <a:rPr lang="en-IN" sz="1600" dirty="0" err="1">
                          <a:latin typeface="Cambria" panose="02040503050406030204" pitchFamily="18" charset="0"/>
                          <a:ea typeface="Cambria" panose="02040503050406030204" pitchFamily="18" charset="0"/>
                        </a:rPr>
                        <a:t>Yupeng</a:t>
                      </a:r>
                      <a:r>
                        <a:rPr lang="en-IN" sz="1600" dirty="0">
                          <a:latin typeface="Cambria" panose="02040503050406030204" pitchFamily="18" charset="0"/>
                          <a:ea typeface="Cambria" panose="02040503050406030204" pitchFamily="18" charset="0"/>
                        </a:rPr>
                        <a:t> Yang et al. (2022), IEEE Journal on Miniaturization for Air and Space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Multiagent Collaboration for Emergency Evacuation Using Reinforcement Learning for Transportation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Showed that multi-agent reinforcement learning improves cooperation, evacuation efficiency, and decision-making in dynamic environments</a:t>
                      </a:r>
                      <a:r>
                        <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rPr>
                        <a:t>.</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9579138"/>
                  </a:ext>
                </a:extLst>
              </a:tr>
              <a:tr h="708357">
                <a:tc>
                  <a:txBody>
                    <a:bodyPr/>
                    <a:lstStyle/>
                    <a:p>
                      <a:pPr algn="l" fontAlgn="ctr">
                        <a:buNone/>
                      </a:pPr>
                      <a:r>
                        <a:rPr lang="en-IN" sz="1600" dirty="0">
                          <a:latin typeface="Cambria" panose="02040503050406030204" pitchFamily="18" charset="0"/>
                          <a:ea typeface="Cambria" panose="02040503050406030204" pitchFamily="18" charset="0"/>
                        </a:rPr>
                        <a:t>Charles M. Macal (2018), Winter Simulation Conference (WSC)</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Tutorial on Agent-Based </a:t>
                      </a:r>
                      <a:r>
                        <a:rPr lang="en-IN" sz="1600" dirty="0" err="1">
                          <a:latin typeface="Cambria" panose="02040503050406030204" pitchFamily="18" charset="0"/>
                          <a:ea typeface="Cambria" panose="02040503050406030204" pitchFamily="18" charset="0"/>
                        </a:rPr>
                        <a:t>Modeling</a:t>
                      </a:r>
                      <a:r>
                        <a:rPr lang="en-IN" sz="1600" dirty="0">
                          <a:latin typeface="Cambria" panose="02040503050406030204" pitchFamily="18" charset="0"/>
                          <a:ea typeface="Cambria" panose="02040503050406030204" pitchFamily="18" charset="0"/>
                        </a:rPr>
                        <a:t> and Simulation: ABM Design for the Zombie Apocalypse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Presented a systematic approach for designing agent-based simulations, highlighting </a:t>
                      </a:r>
                      <a:r>
                        <a:rPr lang="en-IN" sz="1600" dirty="0" err="1">
                          <a:latin typeface="Cambria" panose="02040503050406030204" pitchFamily="18" charset="0"/>
                          <a:ea typeface="Cambria" panose="02040503050406030204" pitchFamily="18" charset="0"/>
                        </a:rPr>
                        <a:t>modeling</a:t>
                      </a:r>
                      <a:r>
                        <a:rPr lang="en-IN" sz="1600" dirty="0">
                          <a:latin typeface="Cambria" panose="02040503050406030204" pitchFamily="18" charset="0"/>
                          <a:ea typeface="Cambria" panose="02040503050406030204" pitchFamily="18" charset="0"/>
                        </a:rPr>
                        <a:t> principles, agent interactions, and simulation workflows applicable to zombie survival scenarios</a:t>
                      </a:r>
                      <a:r>
                        <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rPr>
                        <a:t>.</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9274785"/>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  Jan R. Riebling, Andreas Schmitz (2016), Big     Data &amp; Society</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err="1">
                          <a:latin typeface="Cambria" panose="02040503050406030204" pitchFamily="18" charset="0"/>
                          <a:ea typeface="Cambria" panose="02040503050406030204" pitchFamily="18" charset="0"/>
                        </a:rPr>
                        <a:t>ZombieApocalypse</a:t>
                      </a:r>
                      <a:r>
                        <a:rPr lang="en-IN" sz="1600" dirty="0">
                          <a:latin typeface="Cambria" panose="02040503050406030204" pitchFamily="18" charset="0"/>
                          <a:ea typeface="Cambria" panose="02040503050406030204" pitchFamily="18" charset="0"/>
                        </a:rPr>
                        <a:t>: </a:t>
                      </a:r>
                      <a:r>
                        <a:rPr lang="en-IN" sz="1600" dirty="0" err="1">
                          <a:latin typeface="Cambria" panose="02040503050406030204" pitchFamily="18" charset="0"/>
                          <a:ea typeface="Cambria" panose="02040503050406030204" pitchFamily="18" charset="0"/>
                        </a:rPr>
                        <a:t>Modeling</a:t>
                      </a:r>
                      <a:r>
                        <a:rPr lang="en-IN" sz="1600" dirty="0">
                          <a:latin typeface="Cambria" panose="02040503050406030204" pitchFamily="18" charset="0"/>
                          <a:ea typeface="Cambria" panose="02040503050406030204" pitchFamily="18" charset="0"/>
                        </a:rPr>
                        <a:t> the Social Dynamics of Infection and Rejection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Developed an agent-based simulation model to study zombie infection spread and social </a:t>
                      </a:r>
                      <a:r>
                        <a:rPr lang="en-IN" sz="1600" dirty="0" err="1">
                          <a:latin typeface="Cambria" panose="02040503050406030204" pitchFamily="18" charset="0"/>
                          <a:ea typeface="Cambria" panose="02040503050406030204" pitchFamily="18" charset="0"/>
                        </a:rPr>
                        <a:t>behavior</a:t>
                      </a:r>
                      <a:r>
                        <a:rPr lang="en-IN" sz="1600" dirty="0">
                          <a:latin typeface="Cambria" panose="02040503050406030204" pitchFamily="18" charset="0"/>
                          <a:ea typeface="Cambria" panose="02040503050406030204" pitchFamily="18" charset="0"/>
                        </a:rPr>
                        <a:t>, demonstrating the value of computational </a:t>
                      </a:r>
                      <a:r>
                        <a:rPr lang="en-IN" sz="1600" dirty="0" err="1">
                          <a:latin typeface="Cambria" panose="02040503050406030204" pitchFamily="18" charset="0"/>
                          <a:ea typeface="Cambria" panose="02040503050406030204" pitchFamily="18" charset="0"/>
                        </a:rPr>
                        <a:t>modeling</a:t>
                      </a:r>
                      <a:r>
                        <a:rPr lang="en-IN" sz="1600" dirty="0">
                          <a:latin typeface="Cambria" panose="02040503050406030204" pitchFamily="18" charset="0"/>
                          <a:ea typeface="Cambria" panose="02040503050406030204" pitchFamily="18" charset="0"/>
                        </a:rPr>
                        <a:t> for complex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1461619"/>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Alexander A. Alemi, Matthew Bierbaum, Christopher R. Myers, James P. Sethna (2015), Physical Review 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You Can Run, You Can Hide: The Epidemiology and Statistical Mechanics of Zombies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Applied mathematical and computational models to </a:t>
                      </a:r>
                      <a:r>
                        <a:rPr lang="en-IN" sz="1600" dirty="0" err="1">
                          <a:latin typeface="Cambria" panose="02040503050406030204" pitchFamily="18" charset="0"/>
                          <a:ea typeface="Cambria" panose="02040503050406030204" pitchFamily="18" charset="0"/>
                        </a:rPr>
                        <a:t>analyze</a:t>
                      </a:r>
                      <a:r>
                        <a:rPr lang="en-IN" sz="1600" dirty="0">
                          <a:latin typeface="Cambria" panose="02040503050406030204" pitchFamily="18" charset="0"/>
                          <a:ea typeface="Cambria" panose="02040503050406030204" pitchFamily="18" charset="0"/>
                        </a:rPr>
                        <a:t> zombie outbreak dynamics and demonstrated the use of simulations for studying infectious scenarios.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0553964"/>
                  </a:ext>
                </a:extLst>
              </a:tr>
              <a:tr h="708357">
                <a:tc>
                  <a:txBody>
                    <a:bodyPr/>
                    <a:lstStyle/>
                    <a:p>
                      <a:pPr algn="l" fontAlgn="ctr">
                        <a:buNone/>
                      </a:pPr>
                      <a:r>
                        <a:rPr lang="en-IN" sz="1600" dirty="0">
                          <a:latin typeface="Cambria" panose="02040503050406030204" pitchFamily="18" charset="0"/>
                          <a:ea typeface="Cambria" panose="02040503050406030204" pitchFamily="18" charset="0"/>
                        </a:rPr>
                        <a:t>M. J. North, N. T. Collier, J. R. Vos (2010), Journal of Artificial Societies and Social Simulation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Experiences Creating Three Implementations of the Repast Agent </a:t>
                      </a:r>
                      <a:r>
                        <a:rPr lang="en-IN" sz="1600" dirty="0" err="1">
                          <a:latin typeface="Cambria" panose="02040503050406030204" pitchFamily="18" charset="0"/>
                          <a:ea typeface="Cambria" panose="02040503050406030204" pitchFamily="18" charset="0"/>
                        </a:rPr>
                        <a:t>Modeling</a:t>
                      </a:r>
                      <a:r>
                        <a:rPr lang="en-IN" sz="1600" dirty="0">
                          <a:latin typeface="Cambria" panose="02040503050406030204" pitchFamily="18" charset="0"/>
                          <a:ea typeface="Cambria" panose="02040503050406030204" pitchFamily="18" charset="0"/>
                        </a:rPr>
                        <a:t> Toolkit</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Presented agent-based simulation tools and methodologies that support </a:t>
                      </a:r>
                      <a:r>
                        <a:rPr lang="en-IN" sz="1600" dirty="0" err="1">
                          <a:latin typeface="Cambria" panose="02040503050406030204" pitchFamily="18" charset="0"/>
                          <a:ea typeface="Cambria" panose="02040503050406030204" pitchFamily="18" charset="0"/>
                        </a:rPr>
                        <a:t>modeling</a:t>
                      </a:r>
                      <a:r>
                        <a:rPr lang="en-IN" sz="1600" dirty="0">
                          <a:latin typeface="Cambria" panose="02040503050406030204" pitchFamily="18" charset="0"/>
                          <a:ea typeface="Cambria" panose="02040503050406030204" pitchFamily="18" charset="0"/>
                        </a:rPr>
                        <a:t> of complex systems with interacting autonomous agents.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5736291"/>
                  </a:ext>
                </a:extLst>
              </a:tr>
            </a:tbl>
          </a:graphicData>
        </a:graphic>
      </p:graphicFrame>
    </p:spTree>
    <p:extLst>
      <p:ext uri="{BB962C8B-B14F-4D97-AF65-F5344CB8AC3E}">
        <p14:creationId xmlns:p14="http://schemas.microsoft.com/office/powerpoint/2010/main" val="975196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0ED51E-5CCE-AC76-9C4D-BF7794315E57}"/>
              </a:ext>
            </a:extLst>
          </p:cNvPr>
          <p:cNvSpPr txBox="1"/>
          <p:nvPr/>
        </p:nvSpPr>
        <p:spPr>
          <a:xfrm>
            <a:off x="4422502" y="456141"/>
            <a:ext cx="334699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Research Gaps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5F3B0975-318A-767B-09F3-7282DFEF2408}"/>
              </a:ext>
            </a:extLst>
          </p:cNvPr>
          <p:cNvSpPr txBox="1"/>
          <p:nvPr/>
        </p:nvSpPr>
        <p:spPr>
          <a:xfrm>
            <a:off x="741317" y="2011739"/>
            <a:ext cx="10942683" cy="3416320"/>
          </a:xfrm>
          <a:prstGeom prst="rect">
            <a:avLst/>
          </a:prstGeom>
          <a:noFill/>
        </p:spPr>
        <p:txBody>
          <a:bodyPr wrap="square">
            <a:spAutoFit/>
          </a:bodyPr>
          <a:lstStyle/>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Existing agent-based zombie and emergency simulation models represent complex scenarios but lack intelligent agents capable of autonomous learning and adaptive decision-making.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Current simulation approaches mainly rely on predefined rules, limiting the ability of agents to respond effectively to dynamic environmental changes.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Multi-Agent Reinforcement Learning methods improve cooperation among agents, but require more realistic environments with complex interactions and survival-based decision-making.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Existing crisis management simulations focus mainly on evacuation and emergency response, with limited integration of survival strategies, agent learning, and environmental uncertainty. </a:t>
            </a:r>
          </a:p>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Limited research has explored integrated AI-based platforms combining synthetic dataset generation, agent-based simulation, reinforcement learning, and visualization for intelligent survival scenario analysis.</a:t>
            </a:r>
          </a:p>
          <a:p>
            <a:pPr marL="285750" indent="-285750" algn="just">
              <a:buFont typeface="Arial" panose="020B0604020202020204" pitchFamily="34" charset="0"/>
              <a:buChar char="•"/>
            </a:pPr>
            <a:endParaRPr lang="en-US"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30630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D3A393-C3AE-A646-62B7-6FB37B6160BE}"/>
              </a:ext>
            </a:extLst>
          </p:cNvPr>
          <p:cNvSpPr txBox="1"/>
          <p:nvPr/>
        </p:nvSpPr>
        <p:spPr>
          <a:xfrm>
            <a:off x="4178662" y="374861"/>
            <a:ext cx="38346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Problem Statement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88F24EE7-A202-0AD1-5378-FB771210F28B}"/>
              </a:ext>
            </a:extLst>
          </p:cNvPr>
          <p:cNvSpPr txBox="1"/>
          <p:nvPr/>
        </p:nvSpPr>
        <p:spPr>
          <a:xfrm>
            <a:off x="1290320" y="2503716"/>
            <a:ext cx="9875520" cy="923330"/>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Existing survival and emergency simulation systems lack an integrated AI framework that combines synthetic dataset generation, agent-based simulation, and reinforcement learning for intelligent decision-making.</a:t>
            </a:r>
          </a:p>
        </p:txBody>
      </p:sp>
    </p:spTree>
    <p:extLst>
      <p:ext uri="{BB962C8B-B14F-4D97-AF65-F5344CB8AC3E}">
        <p14:creationId xmlns:p14="http://schemas.microsoft.com/office/powerpoint/2010/main" val="1632581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A847DE-93F8-FC33-95AE-206442B30B17}"/>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Objectives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30202DDE-D1F4-1E6D-CF46-80B4B20E1F26}"/>
              </a:ext>
            </a:extLst>
          </p:cNvPr>
          <p:cNvSpPr txBox="1"/>
          <p:nvPr/>
        </p:nvSpPr>
        <p:spPr>
          <a:xfrm>
            <a:off x="1082040" y="1997839"/>
            <a:ext cx="10403840" cy="2862322"/>
          </a:xfrm>
          <a:prstGeom prst="rect">
            <a:avLst/>
          </a:prstGeom>
          <a:noFill/>
        </p:spPr>
        <p:txBody>
          <a:bodyPr wrap="square">
            <a:spAutoFit/>
          </a:bodyPr>
          <a:lstStyle/>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To generate realistic survivor, zombie, and environmental datasets using Gaussian Mixture Model (GMM) techniques. </a:t>
            </a:r>
          </a:p>
          <a:p>
            <a:pPr marL="285750" indent="-285750">
              <a:buFont typeface="Arial" panose="020B0604020202020204" pitchFamily="34" charset="0"/>
              <a:buChar char="•"/>
            </a:pP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To create a dynamic survival environment with interacting survivor agents, zombie agents, and resource conditions. </a:t>
            </a:r>
          </a:p>
          <a:p>
            <a:pPr marL="285750" indent="-285750">
              <a:buFont typeface="Arial" panose="020B0604020202020204" pitchFamily="34" charset="0"/>
              <a:buChar char="•"/>
            </a:pP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To implement Multi-Agent Reinforcement Learning using Q-Learning for adaptive decision-making and survival optimization. </a:t>
            </a:r>
            <a:br>
              <a:rPr lang="en-IN" dirty="0">
                <a:latin typeface="Cambria" panose="02040503050406030204" pitchFamily="18" charset="0"/>
                <a:ea typeface="Cambria" panose="02040503050406030204" pitchFamily="18" charset="0"/>
              </a:rPr>
            </a:br>
            <a:endParaRPr lang="en-IN"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To </a:t>
            </a:r>
            <a:r>
              <a:rPr lang="en-IN" dirty="0" err="1">
                <a:latin typeface="Cambria" panose="02040503050406030204" pitchFamily="18" charset="0"/>
                <a:ea typeface="Cambria" panose="02040503050406030204" pitchFamily="18" charset="0"/>
              </a:rPr>
              <a:t>analyze</a:t>
            </a:r>
            <a:r>
              <a:rPr lang="en-IN" dirty="0">
                <a:latin typeface="Cambria" panose="02040503050406030204" pitchFamily="18" charset="0"/>
                <a:ea typeface="Cambria" panose="02040503050406030204" pitchFamily="18" charset="0"/>
              </a:rPr>
              <a:t> model performance using statistical metrics, visualizations, and comparison techniques.</a:t>
            </a:r>
          </a:p>
        </p:txBody>
      </p:sp>
    </p:spTree>
    <p:extLst>
      <p:ext uri="{BB962C8B-B14F-4D97-AF65-F5344CB8AC3E}">
        <p14:creationId xmlns:p14="http://schemas.microsoft.com/office/powerpoint/2010/main" val="684994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FDA6135-8C83-C5C2-93F5-67F63216851D}"/>
              </a:ext>
            </a:extLst>
          </p:cNvPr>
          <p:cNvSpPr>
            <a:spLocks noChangeArrowheads="1"/>
          </p:cNvSpPr>
          <p:nvPr/>
        </p:nvSpPr>
        <p:spPr bwMode="auto">
          <a:xfrm>
            <a:off x="283028" y="1503186"/>
            <a:ext cx="7053944" cy="3364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Generate a synthetic dataset for survivors, zombies, and the environment. </a:t>
            </a:r>
          </a:p>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Clean and prepare the dataset for simulation. </a:t>
            </a:r>
          </a:p>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Create a virtual environment with survivor and zombie agents. </a:t>
            </a:r>
          </a:p>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Train survivor agents using Reinforcement Learning. </a:t>
            </a:r>
          </a:p>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Measure the performance of the proposed system. </a:t>
            </a:r>
          </a:p>
          <a:p>
            <a:pPr marL="285750" lvl="0" indent="-285750" algn="just">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Display the results using graphs and charts. </a:t>
            </a:r>
          </a:p>
          <a:p>
            <a:pPr marL="285750" lvl="0" indent="-285750" algn="just">
              <a:lnSpc>
                <a:spcPct val="150000"/>
              </a:lnSpc>
              <a:buFont typeface="Arial" panose="020B0604020202020204" pitchFamily="34" charset="0"/>
              <a:buChar char="•"/>
            </a:pPr>
            <a:r>
              <a:rPr lang="en-IN" dirty="0" err="1">
                <a:latin typeface="Cambria" panose="02040503050406030204" pitchFamily="18" charset="0"/>
                <a:ea typeface="Cambria" panose="02040503050406030204" pitchFamily="18" charset="0"/>
              </a:rPr>
              <a:t>Analyze</a:t>
            </a:r>
            <a:r>
              <a:rPr lang="en-IN" dirty="0">
                <a:latin typeface="Cambria" panose="02040503050406030204" pitchFamily="18" charset="0"/>
                <a:ea typeface="Cambria" panose="02040503050406030204" pitchFamily="18" charset="0"/>
              </a:rPr>
              <a:t> the results and draw the final conclusion.</a:t>
            </a:r>
          </a:p>
        </p:txBody>
      </p:sp>
      <p:sp>
        <p:nvSpPr>
          <p:cNvPr id="7" name="TextBox 6">
            <a:extLst>
              <a:ext uri="{FF2B5EF4-FFF2-40B4-BE49-F238E27FC236}">
                <a16:creationId xmlns:a16="http://schemas.microsoft.com/office/drawing/2014/main" id="{C214E9F1-0E23-0E99-BEA8-BF66FF271068}"/>
              </a:ext>
            </a:extLst>
          </p:cNvPr>
          <p:cNvSpPr txBox="1"/>
          <p:nvPr/>
        </p:nvSpPr>
        <p:spPr>
          <a:xfrm>
            <a:off x="3298373" y="15240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1F3699D7-81F6-5242-E47E-BEDF02B9DB05}"/>
              </a:ext>
            </a:extLst>
          </p:cNvPr>
          <p:cNvPicPr>
            <a:picLocks noChangeAspect="1"/>
          </p:cNvPicPr>
          <p:nvPr/>
        </p:nvPicPr>
        <p:blipFill>
          <a:blip r:embed="rId2"/>
          <a:stretch>
            <a:fillRect/>
          </a:stretch>
        </p:blipFill>
        <p:spPr>
          <a:xfrm>
            <a:off x="7472517" y="-1"/>
            <a:ext cx="4719484" cy="6823429"/>
          </a:xfrm>
          <a:prstGeom prst="rect">
            <a:avLst/>
          </a:prstGeom>
        </p:spPr>
      </p:pic>
    </p:spTree>
    <p:extLst>
      <p:ext uri="{BB962C8B-B14F-4D97-AF65-F5344CB8AC3E}">
        <p14:creationId xmlns:p14="http://schemas.microsoft.com/office/powerpoint/2010/main" val="4199753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9466" y="129644"/>
            <a:ext cx="6093068" cy="584775"/>
          </a:xfrm>
          <a:prstGeom prst="rect">
            <a:avLst/>
          </a:prstGeom>
          <a:noFill/>
        </p:spPr>
        <p:txBody>
          <a:bodyPr wrap="square">
            <a:spAutoFit/>
          </a:bodyPr>
          <a:lstStyle/>
          <a:p>
            <a:pPr marR="0" lvl="0" algn="ctr" fontAlgn="base">
              <a:spcBef>
                <a:spcPts val="800"/>
              </a:spcBef>
              <a:spcAft>
                <a:spcPts val="400"/>
              </a:spcAft>
              <a:buSzPts val="1000"/>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p>
        </p:txBody>
      </p:sp>
      <p:sp>
        <p:nvSpPr>
          <p:cNvPr id="10" name="TextBox 9"/>
          <p:cNvSpPr txBox="1"/>
          <p:nvPr/>
        </p:nvSpPr>
        <p:spPr>
          <a:xfrm>
            <a:off x="838200" y="1100000"/>
            <a:ext cx="10515600" cy="461665"/>
          </a:xfrm>
          <a:prstGeom prst="rect">
            <a:avLst/>
          </a:prstGeom>
          <a:noFill/>
        </p:spPr>
        <p:txBody>
          <a:bodyPr wrap="square">
            <a:spAutoFit/>
          </a:bodyPr>
          <a:lstStyle/>
          <a:p>
            <a:pPr marL="0" indent="0"/>
            <a:r>
              <a:rPr lang="en-IN" sz="2200" b="1" dirty="0">
                <a:solidFill>
                  <a:schemeClr val="tx1"/>
                </a:solidFill>
                <a:latin typeface="Cambria" panose="02040503050406030204" pitchFamily="18" charset="0"/>
                <a:ea typeface="Cambria" panose="02040503050406030204" pitchFamily="18" charset="0"/>
              </a:rPr>
              <a:t>Step 1: Data Generation — Gaussian Mixture Model (GMM)</a:t>
            </a:r>
          </a:p>
        </p:txBody>
      </p:sp>
      <p:sp>
        <p:nvSpPr>
          <p:cNvPr id="11" name="TextBox 10"/>
          <p:cNvSpPr txBox="1"/>
          <p:nvPr/>
        </p:nvSpPr>
        <p:spPr>
          <a:xfrm>
            <a:off x="838200" y="1692495"/>
            <a:ext cx="10515600" cy="600000"/>
          </a:xfrm>
          <a:prstGeom prst="rect">
            <a:avLst/>
          </a:prstGeom>
          <a:noFill/>
        </p:spPr>
        <p:txBody>
          <a:bodyPr wrap="square" anchor="ctr">
            <a:spAutoFit/>
          </a:bodyPr>
          <a:lstStyle/>
          <a:p>
            <a:pPr marL="0" indent="0" algn="ctr"/>
            <a:r>
              <a:rPr lang="en-IN" sz="2600" i="0" dirty="0">
                <a:solidFill>
                  <a:srgbClr val="EE0000"/>
                </a:solidFill>
                <a:latin typeface="Cambria" panose="02040503050406030204" pitchFamily="18" charset="0"/>
                <a:ea typeface="Cambria" panose="02040503050406030204" pitchFamily="18" charset="0"/>
              </a:rPr>
              <a:t>p(x) = Σ (k=1 to K)  πₖ · N(x | μₖ, Σₖ)      — (Eq. 1)</a:t>
            </a:r>
          </a:p>
        </p:txBody>
      </p:sp>
      <p:sp>
        <p:nvSpPr>
          <p:cNvPr id="12" name="TextBox 11"/>
          <p:cNvSpPr txBox="1"/>
          <p:nvPr/>
        </p:nvSpPr>
        <p:spPr>
          <a:xfrm>
            <a:off x="957469" y="5626448"/>
            <a:ext cx="10515600" cy="1500000"/>
          </a:xfrm>
          <a:prstGeom prst="rect">
            <a:avLst/>
          </a:prstGeom>
          <a:noFill/>
        </p:spPr>
        <p:txBody>
          <a:bodyPr wrap="square">
            <a:spAutoFit/>
          </a:bodyPr>
          <a:lstStyle/>
          <a:p>
            <a:pPr marL="0" indent="0" algn="just"/>
            <a:r>
              <a:rPr lang="en-IN" sz="1800" dirty="0">
                <a:solidFill>
                  <a:schemeClr val="tx1"/>
                </a:solidFill>
                <a:latin typeface="Cambria" panose="02040503050406030204" pitchFamily="18" charset="0"/>
                <a:ea typeface="Cambria" panose="02040503050406030204" pitchFamily="18" charset="0"/>
              </a:rPr>
              <a:t>Survivor, zombie, and environmental data are synthesized by combining K weighted Gaussian components, each defined by a mean μₖ and covariance Σₖ. This produces a realistic and varied synthetic dataset for simulation.</a:t>
            </a:r>
          </a:p>
        </p:txBody>
      </p:sp>
      <p:sp>
        <p:nvSpPr>
          <p:cNvPr id="4" name="TextBox 3">
            <a:extLst>
              <a:ext uri="{FF2B5EF4-FFF2-40B4-BE49-F238E27FC236}">
                <a16:creationId xmlns:a16="http://schemas.microsoft.com/office/drawing/2014/main" id="{CA6C772D-7F6F-E4C3-0CB1-4E24CCBAC321}"/>
              </a:ext>
            </a:extLst>
          </p:cNvPr>
          <p:cNvSpPr txBox="1"/>
          <p:nvPr/>
        </p:nvSpPr>
        <p:spPr>
          <a:xfrm>
            <a:off x="1697102" y="2376178"/>
            <a:ext cx="9981375" cy="3139321"/>
          </a:xfrm>
          <a:prstGeom prst="rect">
            <a:avLst/>
          </a:prstGeom>
          <a:noFill/>
        </p:spPr>
        <p:txBody>
          <a:bodyPr wrap="square">
            <a:spAutoFit/>
          </a:bodyPr>
          <a:lstStyle/>
          <a:p>
            <a:pPr algn="just"/>
            <a:r>
              <a:rPr lang="en-IN" b="1" dirty="0">
                <a:latin typeface="Cambria" panose="02040503050406030204" pitchFamily="18" charset="0"/>
                <a:ea typeface="Cambria" panose="02040503050406030204" pitchFamily="18" charset="0"/>
              </a:rPr>
              <a:t>Example:</a:t>
            </a:r>
            <a:endParaRPr lang="en-IN" dirty="0">
              <a:latin typeface="Cambria" panose="02040503050406030204" pitchFamily="18" charset="0"/>
              <a:ea typeface="Cambria" panose="02040503050406030204" pitchFamily="18" charset="0"/>
            </a:endParaRPr>
          </a:p>
          <a:p>
            <a:pPr lvl="0" algn="just"/>
            <a:r>
              <a:rPr lang="en-IN" dirty="0">
                <a:latin typeface="Cambria" panose="02040503050406030204" pitchFamily="18" charset="0"/>
                <a:ea typeface="Cambria" panose="02040503050406030204" pitchFamily="18" charset="0"/>
              </a:rPr>
              <a:t>Take a single Gaussian component with weight π = 1, mean μ = 0, and variance σ² = 1. At x = 0, the formula gives p(0) = (1/√(2π)) × e⁰ ≈ 0.399, showing how the model assigns a probability density to a synthetic data point.</a:t>
            </a:r>
            <a:endParaRPr lang="en-IN" b="1" dirty="0">
              <a:latin typeface="Cambria" panose="02040503050406030204" pitchFamily="18" charset="0"/>
              <a:ea typeface="Cambria" panose="02040503050406030204" pitchFamily="18" charset="0"/>
            </a:endParaRPr>
          </a:p>
          <a:p>
            <a:pPr lvl="0"/>
            <a:endParaRPr lang="en-IN" b="1" dirty="0">
              <a:latin typeface="Cambria" panose="02040503050406030204" pitchFamily="18" charset="0"/>
              <a:ea typeface="Cambria" panose="02040503050406030204" pitchFamily="18" charset="0"/>
            </a:endParaRPr>
          </a:p>
          <a:p>
            <a:pPr lvl="0"/>
            <a:r>
              <a:rPr lang="en-IN" b="1" dirty="0" err="1">
                <a:latin typeface="Cambria" panose="02040503050406030204" pitchFamily="18" charset="0"/>
                <a:ea typeface="Cambria" panose="02040503050406030204" pitchFamily="18" charset="0"/>
              </a:rPr>
              <a:t>Ans:</a:t>
            </a:r>
            <a:r>
              <a:rPr lang="en-IN" dirty="0" err="1"/>
              <a:t>For</a:t>
            </a:r>
            <a:r>
              <a:rPr lang="en-IN" dirty="0"/>
              <a:t> π = 1, μ = 0, σ² = 1, at x = 0: </a:t>
            </a:r>
            <a:r>
              <a:rPr lang="en-IN" b="1" dirty="0"/>
              <a:t>p(0) = (1/√(2π))e⁰</a:t>
            </a:r>
            <a:r>
              <a:rPr lang="en-IN" dirty="0"/>
              <a:t>.</a:t>
            </a:r>
            <a:br>
              <a:rPr lang="en-IN" dirty="0"/>
            </a:br>
            <a:r>
              <a:rPr lang="en-IN" dirty="0"/>
              <a:t>Since e⁰ = 1, </a:t>
            </a:r>
            <a:r>
              <a:rPr lang="en-IN" b="1" dirty="0"/>
              <a:t>p(0) = 1/√(2π) ≈ 0.399</a:t>
            </a:r>
            <a:r>
              <a:rPr lang="en-IN" dirty="0"/>
              <a:t>.</a:t>
            </a:r>
            <a:br>
              <a:rPr lang="en-IN" dirty="0"/>
            </a:br>
            <a:r>
              <a:rPr lang="en-IN" dirty="0"/>
              <a:t>Thus, the Gaussian model assigns a probability density of </a:t>
            </a:r>
            <a:r>
              <a:rPr lang="en-IN" b="1" dirty="0"/>
              <a:t>0.399</a:t>
            </a:r>
            <a:r>
              <a:rPr lang="en-IN" dirty="0"/>
              <a:t> to x = 0.</a:t>
            </a:r>
            <a:endParaRPr lang="en-IN" dirty="0">
              <a:latin typeface="Cambria" panose="02040503050406030204" pitchFamily="18" charset="0"/>
              <a:ea typeface="Cambria" panose="02040503050406030204" pitchFamily="18" charset="0"/>
            </a:endParaRPr>
          </a:p>
          <a:p>
            <a:pPr algn="just"/>
            <a:endParaRPr lang="en-IN" b="1" dirty="0">
              <a:latin typeface="Cambria" panose="02040503050406030204" pitchFamily="18" charset="0"/>
              <a:ea typeface="Cambria" panose="02040503050406030204" pitchFamily="18" charset="0"/>
            </a:endParaRPr>
          </a:p>
          <a:p>
            <a:pPr algn="just"/>
            <a:r>
              <a:rPr lang="en-IN" b="1" dirty="0">
                <a:latin typeface="Cambria" panose="02040503050406030204" pitchFamily="18" charset="0"/>
                <a:ea typeface="Cambria" panose="02040503050406030204" pitchFamily="18" charset="0"/>
              </a:rPr>
              <a:t>Eq. (1)</a:t>
            </a:r>
            <a:r>
              <a:rPr lang="en-IN" dirty="0">
                <a:latin typeface="Cambria" panose="02040503050406030204" pitchFamily="18" charset="0"/>
                <a:ea typeface="Cambria" panose="02040503050406030204" pitchFamily="18" charset="0"/>
              </a:rPr>
              <a:t> Generates synthetic survivor, zombie, and environmental data by combining multiple weighted Gaussian distributions.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9466" y="129644"/>
            <a:ext cx="6093068" cy="584775"/>
          </a:xfrm>
          <a:prstGeom prst="rect">
            <a:avLst/>
          </a:prstGeom>
          <a:noFill/>
        </p:spPr>
        <p:txBody>
          <a:bodyPr wrap="square">
            <a:spAutoFit/>
          </a:bodyPr>
          <a:lstStyle/>
          <a:p>
            <a:pPr marR="0" lvl="0" algn="ctr" fontAlgn="base">
              <a:spcBef>
                <a:spcPts val="800"/>
              </a:spcBef>
              <a:spcAft>
                <a:spcPts val="400"/>
              </a:spcAft>
              <a:buSzPts val="1000"/>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p>
        </p:txBody>
      </p:sp>
      <p:sp>
        <p:nvSpPr>
          <p:cNvPr id="10" name="TextBox 9"/>
          <p:cNvSpPr txBox="1"/>
          <p:nvPr/>
        </p:nvSpPr>
        <p:spPr>
          <a:xfrm>
            <a:off x="838200" y="1100000"/>
            <a:ext cx="10515600" cy="461665"/>
          </a:xfrm>
          <a:prstGeom prst="rect">
            <a:avLst/>
          </a:prstGeom>
          <a:noFill/>
        </p:spPr>
        <p:txBody>
          <a:bodyPr wrap="square">
            <a:spAutoFit/>
          </a:bodyPr>
          <a:lstStyle/>
          <a:p>
            <a:pPr marL="0" indent="0"/>
            <a:r>
              <a:rPr lang="en-IN" sz="2200" b="1" dirty="0">
                <a:solidFill>
                  <a:schemeClr val="tx1"/>
                </a:solidFill>
                <a:latin typeface="Cambria" panose="02040503050406030204" pitchFamily="18" charset="0"/>
                <a:ea typeface="Cambria" panose="02040503050406030204" pitchFamily="18" charset="0"/>
              </a:rPr>
              <a:t>Step 2: Data Preprocessing — Min-Max Normalization</a:t>
            </a:r>
          </a:p>
        </p:txBody>
      </p:sp>
      <p:sp>
        <p:nvSpPr>
          <p:cNvPr id="11" name="TextBox 10"/>
          <p:cNvSpPr txBox="1"/>
          <p:nvPr/>
        </p:nvSpPr>
        <p:spPr>
          <a:xfrm>
            <a:off x="838200" y="1573232"/>
            <a:ext cx="10515600" cy="600000"/>
          </a:xfrm>
          <a:prstGeom prst="rect">
            <a:avLst/>
          </a:prstGeom>
          <a:noFill/>
        </p:spPr>
        <p:txBody>
          <a:bodyPr wrap="square" anchor="ctr">
            <a:spAutoFit/>
          </a:bodyPr>
          <a:lstStyle/>
          <a:p>
            <a:pPr marL="0" indent="0" algn="ctr"/>
            <a:r>
              <a:rPr lang="en-IN" sz="2600" i="0" dirty="0">
                <a:solidFill>
                  <a:srgbClr val="EE0000"/>
                </a:solidFill>
                <a:latin typeface="Cambria" panose="02040503050406030204" pitchFamily="18" charset="0"/>
                <a:ea typeface="Cambria" panose="02040503050406030204" pitchFamily="18" charset="0"/>
              </a:rPr>
              <a:t>X_norm = (X − X_min) / (X_max − X_min)      — (Eq. 2)</a:t>
            </a:r>
          </a:p>
        </p:txBody>
      </p:sp>
      <p:sp>
        <p:nvSpPr>
          <p:cNvPr id="12" name="TextBox 11"/>
          <p:cNvSpPr txBox="1"/>
          <p:nvPr/>
        </p:nvSpPr>
        <p:spPr>
          <a:xfrm>
            <a:off x="838200" y="5643195"/>
            <a:ext cx="10515600" cy="1500000"/>
          </a:xfrm>
          <a:prstGeom prst="rect">
            <a:avLst/>
          </a:prstGeom>
          <a:noFill/>
        </p:spPr>
        <p:txBody>
          <a:bodyPr wrap="square">
            <a:spAutoFit/>
          </a:bodyPr>
          <a:lstStyle/>
          <a:p>
            <a:pPr marL="0" indent="0" algn="just"/>
            <a:r>
              <a:rPr lang="en-IN" sz="1800" dirty="0">
                <a:solidFill>
                  <a:schemeClr val="tx1"/>
                </a:solidFill>
                <a:latin typeface="Cambria" panose="02040503050406030204" pitchFamily="18" charset="0"/>
                <a:ea typeface="Cambria" panose="02040503050406030204" pitchFamily="18" charset="0"/>
              </a:rPr>
              <a:t>Every generated feature is rescaled to the range [0, 1]. This prevents variables with larger numeric ranges from dominating the simulation or the learning process, and prepares clean, consistent data for the next stage.</a:t>
            </a:r>
          </a:p>
        </p:txBody>
      </p:sp>
      <p:sp>
        <p:nvSpPr>
          <p:cNvPr id="4" name="TextBox 3">
            <a:extLst>
              <a:ext uri="{FF2B5EF4-FFF2-40B4-BE49-F238E27FC236}">
                <a16:creationId xmlns:a16="http://schemas.microsoft.com/office/drawing/2014/main" id="{A60A7A20-090A-6E3B-82A5-3948443E7A42}"/>
              </a:ext>
            </a:extLst>
          </p:cNvPr>
          <p:cNvSpPr txBox="1"/>
          <p:nvPr/>
        </p:nvSpPr>
        <p:spPr>
          <a:xfrm>
            <a:off x="1567897" y="2528284"/>
            <a:ext cx="9673258" cy="2862322"/>
          </a:xfrm>
          <a:prstGeom prst="rect">
            <a:avLst/>
          </a:prstGeom>
          <a:noFill/>
        </p:spPr>
        <p:txBody>
          <a:bodyPr wrap="square">
            <a:spAutoFit/>
          </a:bodyPr>
          <a:lstStyle/>
          <a:p>
            <a:pPr algn="just"/>
            <a:r>
              <a:rPr lang="en-IN" b="1" dirty="0">
                <a:latin typeface="Cambria" panose="02040503050406030204" pitchFamily="18" charset="0"/>
                <a:ea typeface="Cambria" panose="02040503050406030204" pitchFamily="18" charset="0"/>
              </a:rPr>
              <a:t>Example:</a:t>
            </a:r>
            <a:endParaRPr lang="en-IN" dirty="0">
              <a:latin typeface="Cambria" panose="02040503050406030204" pitchFamily="18" charset="0"/>
              <a:ea typeface="Cambria" panose="02040503050406030204" pitchFamily="18" charset="0"/>
            </a:endParaRPr>
          </a:p>
          <a:p>
            <a:pPr lvl="0" algn="just"/>
            <a:r>
              <a:rPr lang="en-IN" dirty="0">
                <a:latin typeface="Cambria" panose="02040503050406030204" pitchFamily="18" charset="0"/>
                <a:ea typeface="Cambria" panose="02040503050406030204" pitchFamily="18" charset="0"/>
              </a:rPr>
              <a:t>A feature has value X = 15, with X_min = 10 and X_max = 50 across the dataset. Then X_norm = (15 − 10) / (50 − 10) = 5 / 40 = 0.125, so the value 15 is rescaled to 0.125 on the [0,1] scale.</a:t>
            </a:r>
          </a:p>
          <a:p>
            <a:pPr lvl="0"/>
            <a:endParaRPr lang="en-IN" b="1" dirty="0">
              <a:latin typeface="Cambria" panose="02040503050406030204" pitchFamily="18" charset="0"/>
              <a:ea typeface="Cambria" panose="02040503050406030204" pitchFamily="18" charset="0"/>
            </a:endParaRPr>
          </a:p>
          <a:p>
            <a:pPr lvl="0"/>
            <a:r>
              <a:rPr lang="en-IN" b="1" dirty="0" err="1">
                <a:latin typeface="Cambria" panose="02040503050406030204" pitchFamily="18" charset="0"/>
                <a:ea typeface="Cambria" panose="02040503050406030204" pitchFamily="18" charset="0"/>
              </a:rPr>
              <a:t>Ans:</a:t>
            </a:r>
            <a:r>
              <a:rPr lang="en-IN" dirty="0" err="1"/>
              <a:t>Given</a:t>
            </a:r>
            <a:r>
              <a:rPr lang="en-IN" dirty="0"/>
              <a:t> </a:t>
            </a:r>
            <a:r>
              <a:rPr lang="en-IN" b="1" dirty="0"/>
              <a:t>X = 15, </a:t>
            </a:r>
            <a:r>
              <a:rPr lang="en-IN" b="1" dirty="0" err="1"/>
              <a:t>X_min</a:t>
            </a:r>
            <a:r>
              <a:rPr lang="en-IN" b="1" dirty="0"/>
              <a:t> = 10, and </a:t>
            </a:r>
            <a:r>
              <a:rPr lang="en-IN" b="1" dirty="0" err="1"/>
              <a:t>X_max</a:t>
            </a:r>
            <a:r>
              <a:rPr lang="en-IN" b="1" dirty="0"/>
              <a:t> = 50</a:t>
            </a:r>
            <a:r>
              <a:rPr lang="en-IN" dirty="0"/>
              <a:t>.</a:t>
            </a:r>
            <a:br>
              <a:rPr lang="en-IN" dirty="0"/>
            </a:br>
            <a:r>
              <a:rPr lang="en-IN" dirty="0"/>
              <a:t>Using min-max normalization: </a:t>
            </a:r>
            <a:r>
              <a:rPr lang="en-IN" b="1" dirty="0" err="1"/>
              <a:t>X_norm</a:t>
            </a:r>
            <a:r>
              <a:rPr lang="en-IN" b="1" dirty="0"/>
              <a:t> = (15 − 10)/(50 − 10) = 5/40 = 0.125</a:t>
            </a:r>
            <a:r>
              <a:rPr lang="en-IN" dirty="0"/>
              <a:t>.</a:t>
            </a:r>
            <a:br>
              <a:rPr lang="en-IN" dirty="0"/>
            </a:br>
            <a:r>
              <a:rPr lang="en-IN" dirty="0"/>
              <a:t>Therefore, </a:t>
            </a:r>
            <a:r>
              <a:rPr lang="en-IN" b="1" dirty="0"/>
              <a:t>15 is rescaled to 0.125</a:t>
            </a:r>
            <a:r>
              <a:rPr lang="en-IN" dirty="0"/>
              <a:t> on the </a:t>
            </a:r>
            <a:r>
              <a:rPr lang="en-IN" b="1" dirty="0"/>
              <a:t>[0,1] scale</a:t>
            </a:r>
            <a:r>
              <a:rPr lang="en-IN" dirty="0"/>
              <a:t>.</a:t>
            </a:r>
          </a:p>
          <a:p>
            <a:pPr lvl="0"/>
            <a:endParaRPr lang="en-IN" b="1" dirty="0">
              <a:latin typeface="Cambria" panose="02040503050406030204" pitchFamily="18" charset="0"/>
              <a:ea typeface="Cambria" panose="02040503050406030204" pitchFamily="18" charset="0"/>
            </a:endParaRPr>
          </a:p>
          <a:p>
            <a:pPr algn="just"/>
            <a:r>
              <a:rPr lang="en-IN" b="1" dirty="0">
                <a:latin typeface="Cambria" panose="02040503050406030204" pitchFamily="18" charset="0"/>
                <a:ea typeface="Cambria" panose="02040503050406030204" pitchFamily="18" charset="0"/>
              </a:rPr>
              <a:t>Eq. (2)</a:t>
            </a:r>
            <a:r>
              <a:rPr lang="en-IN" dirty="0">
                <a:latin typeface="Cambria" panose="02040503050406030204" pitchFamily="18" charset="0"/>
                <a:ea typeface="Cambria" panose="02040503050406030204" pitchFamily="18" charset="0"/>
              </a:rPr>
              <a:t> Rescales all generated features to the range [0,1], ensuring that features with larger numerical ranges do not dominate the simulation or learning process.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9466" y="129644"/>
            <a:ext cx="6093068" cy="584775"/>
          </a:xfrm>
          <a:prstGeom prst="rect">
            <a:avLst/>
          </a:prstGeom>
          <a:noFill/>
        </p:spPr>
        <p:txBody>
          <a:bodyPr wrap="square">
            <a:spAutoFit/>
          </a:bodyPr>
          <a:lstStyle/>
          <a:p>
            <a:pPr marR="0" lvl="0" algn="ctr" fontAlgn="base">
              <a:spcBef>
                <a:spcPts val="800"/>
              </a:spcBef>
              <a:spcAft>
                <a:spcPts val="400"/>
              </a:spcAft>
              <a:buSzPts val="1000"/>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p>
        </p:txBody>
      </p:sp>
      <p:sp>
        <p:nvSpPr>
          <p:cNvPr id="10" name="TextBox 9"/>
          <p:cNvSpPr txBox="1"/>
          <p:nvPr/>
        </p:nvSpPr>
        <p:spPr>
          <a:xfrm>
            <a:off x="838200" y="1100000"/>
            <a:ext cx="10515600" cy="461665"/>
          </a:xfrm>
          <a:prstGeom prst="rect">
            <a:avLst/>
          </a:prstGeom>
          <a:noFill/>
        </p:spPr>
        <p:txBody>
          <a:bodyPr wrap="square">
            <a:spAutoFit/>
          </a:bodyPr>
          <a:lstStyle/>
          <a:p>
            <a:pPr marL="0" indent="0"/>
            <a:r>
              <a:rPr lang="en-IN" sz="2200" b="1" dirty="0">
                <a:solidFill>
                  <a:schemeClr val="tx1"/>
                </a:solidFill>
                <a:latin typeface="Cambria" panose="02040503050406030204" pitchFamily="18" charset="0"/>
                <a:ea typeface="Cambria" panose="02040503050406030204" pitchFamily="18" charset="0"/>
              </a:rPr>
              <a:t>Step 3: Agent-Based Simulation — Euclidean Distance</a:t>
            </a:r>
          </a:p>
        </p:txBody>
      </p:sp>
      <p:sp>
        <p:nvSpPr>
          <p:cNvPr id="11" name="TextBox 10"/>
          <p:cNvSpPr txBox="1"/>
          <p:nvPr/>
        </p:nvSpPr>
        <p:spPr>
          <a:xfrm>
            <a:off x="838200" y="1622922"/>
            <a:ext cx="10515600" cy="600000"/>
          </a:xfrm>
          <a:prstGeom prst="rect">
            <a:avLst/>
          </a:prstGeom>
          <a:noFill/>
        </p:spPr>
        <p:txBody>
          <a:bodyPr wrap="square" anchor="ctr">
            <a:spAutoFit/>
          </a:bodyPr>
          <a:lstStyle/>
          <a:p>
            <a:pPr marL="0" indent="0" algn="ctr"/>
            <a:r>
              <a:rPr lang="en-IN" sz="2400" i="0" dirty="0">
                <a:solidFill>
                  <a:srgbClr val="EE0000"/>
                </a:solidFill>
                <a:latin typeface="Cambria" panose="02040503050406030204" pitchFamily="18" charset="0"/>
                <a:ea typeface="Cambria" panose="02040503050406030204" pitchFamily="18" charset="0"/>
              </a:rPr>
              <a:t>d = √[(x₂ − x₁)² + (y₂ − y₁)² + ... + (n₂ − n₁)²]      — (Eq. 3)</a:t>
            </a:r>
          </a:p>
        </p:txBody>
      </p:sp>
      <p:sp>
        <p:nvSpPr>
          <p:cNvPr id="12" name="TextBox 11"/>
          <p:cNvSpPr txBox="1"/>
          <p:nvPr/>
        </p:nvSpPr>
        <p:spPr>
          <a:xfrm>
            <a:off x="838200" y="5543804"/>
            <a:ext cx="10515600" cy="1500000"/>
          </a:xfrm>
          <a:prstGeom prst="rect">
            <a:avLst/>
          </a:prstGeom>
          <a:noFill/>
        </p:spPr>
        <p:txBody>
          <a:bodyPr wrap="square">
            <a:spAutoFit/>
          </a:bodyPr>
          <a:lstStyle/>
          <a:p>
            <a:pPr marL="0" indent="0" algn="just"/>
            <a:r>
              <a:rPr lang="en-IN" sz="1800" dirty="0">
                <a:solidFill>
                  <a:schemeClr val="tx1"/>
                </a:solidFill>
                <a:latin typeface="Cambria" panose="02040503050406030204" pitchFamily="18" charset="0"/>
                <a:ea typeface="Cambria" panose="02040503050406030204" pitchFamily="18" charset="0"/>
              </a:rPr>
              <a:t>Within the simulated environment, Euclidean distance measures how close survivor and zombie agents are to one another. This proximity value determines encounters, threats, and resource interactions during each simulation step.</a:t>
            </a:r>
          </a:p>
        </p:txBody>
      </p:sp>
      <p:sp>
        <p:nvSpPr>
          <p:cNvPr id="4" name="TextBox 3">
            <a:extLst>
              <a:ext uri="{FF2B5EF4-FFF2-40B4-BE49-F238E27FC236}">
                <a16:creationId xmlns:a16="http://schemas.microsoft.com/office/drawing/2014/main" id="{BA5E63CE-E8BE-1E7A-DB7A-A6A1F7E85E35}"/>
              </a:ext>
            </a:extLst>
          </p:cNvPr>
          <p:cNvSpPr txBox="1"/>
          <p:nvPr/>
        </p:nvSpPr>
        <p:spPr>
          <a:xfrm>
            <a:off x="1697104" y="2409015"/>
            <a:ext cx="9225997" cy="2862322"/>
          </a:xfrm>
          <a:prstGeom prst="rect">
            <a:avLst/>
          </a:prstGeom>
          <a:noFill/>
        </p:spPr>
        <p:txBody>
          <a:bodyPr wrap="square">
            <a:spAutoFit/>
          </a:bodyPr>
          <a:lstStyle/>
          <a:p>
            <a:pPr algn="just"/>
            <a:r>
              <a:rPr lang="en-IN" b="1" dirty="0">
                <a:latin typeface="Cambria" panose="02040503050406030204" pitchFamily="18" charset="0"/>
                <a:ea typeface="Cambria" panose="02040503050406030204" pitchFamily="18" charset="0"/>
              </a:rPr>
              <a:t>Example:</a:t>
            </a:r>
            <a:endParaRPr lang="en-IN" dirty="0">
              <a:latin typeface="Cambria" panose="02040503050406030204" pitchFamily="18" charset="0"/>
              <a:ea typeface="Cambria" panose="02040503050406030204" pitchFamily="18" charset="0"/>
            </a:endParaRPr>
          </a:p>
          <a:p>
            <a:pPr lvl="0" algn="just"/>
            <a:r>
              <a:rPr lang="en-IN" dirty="0">
                <a:latin typeface="Cambria" panose="02040503050406030204" pitchFamily="18" charset="0"/>
                <a:ea typeface="Cambria" panose="02040503050406030204" pitchFamily="18" charset="0"/>
              </a:rPr>
              <a:t>Survivor Agent A is at position (2, 3) and Zombie Agent B is at position (6, 7). Then d = √[(6−2)² + (7−3)²] = √(16 + 16) = √32 ≈ 5.66, so the two agents are about 5.66 units apart.</a:t>
            </a:r>
          </a:p>
          <a:p>
            <a:pPr lvl="0" algn="just"/>
            <a:endParaRPr lang="en-IN" dirty="0">
              <a:latin typeface="Cambria" panose="02040503050406030204" pitchFamily="18" charset="0"/>
              <a:ea typeface="Cambria" panose="02040503050406030204" pitchFamily="18" charset="0"/>
            </a:endParaRPr>
          </a:p>
          <a:p>
            <a:r>
              <a:rPr lang="en-IN" b="1" dirty="0" err="1">
                <a:latin typeface="Cambria" panose="02040503050406030204" pitchFamily="18" charset="0"/>
                <a:ea typeface="Cambria" panose="02040503050406030204" pitchFamily="18" charset="0"/>
              </a:rPr>
              <a:t>Ans:</a:t>
            </a:r>
            <a:r>
              <a:rPr lang="en-IN" dirty="0" err="1"/>
              <a:t>Agent</a:t>
            </a:r>
            <a:r>
              <a:rPr lang="en-IN" dirty="0"/>
              <a:t> A is at </a:t>
            </a:r>
            <a:r>
              <a:rPr lang="en-IN" b="1" dirty="0"/>
              <a:t>(2, 3)</a:t>
            </a:r>
            <a:r>
              <a:rPr lang="en-IN" dirty="0"/>
              <a:t> and Zombie Agent B is at </a:t>
            </a:r>
            <a:r>
              <a:rPr lang="en-IN" b="1" dirty="0"/>
              <a:t>(6, 7)</a:t>
            </a:r>
            <a:r>
              <a:rPr lang="en-IN" dirty="0"/>
              <a:t>.</a:t>
            </a:r>
            <a:br>
              <a:rPr lang="en-IN" dirty="0"/>
            </a:br>
            <a:r>
              <a:rPr lang="en-IN" dirty="0"/>
              <a:t>Distance: </a:t>
            </a:r>
            <a:r>
              <a:rPr lang="en-IN" b="1" dirty="0"/>
              <a:t>d = √[(6−2)² + (7−3)²] = √32 ≈ 5.66</a:t>
            </a:r>
            <a:r>
              <a:rPr lang="en-IN" dirty="0"/>
              <a:t>.</a:t>
            </a:r>
            <a:br>
              <a:rPr lang="en-IN" dirty="0"/>
            </a:br>
            <a:r>
              <a:rPr lang="en-IN" dirty="0"/>
              <a:t>Therefore, the two agents are approximately </a:t>
            </a:r>
            <a:r>
              <a:rPr lang="en-IN" b="1" dirty="0"/>
              <a:t>5.66 units apart</a:t>
            </a:r>
            <a:r>
              <a:rPr lang="en-IN" dirty="0"/>
              <a:t>.</a:t>
            </a:r>
          </a:p>
          <a:p>
            <a:pPr lvl="0"/>
            <a:endParaRPr lang="en-IN" b="1" dirty="0">
              <a:latin typeface="Cambria" panose="02040503050406030204" pitchFamily="18" charset="0"/>
              <a:ea typeface="Cambria" panose="02040503050406030204" pitchFamily="18" charset="0"/>
            </a:endParaRPr>
          </a:p>
          <a:p>
            <a:pPr algn="just"/>
            <a:r>
              <a:rPr lang="en-IN" b="1" dirty="0">
                <a:latin typeface="Cambria" panose="02040503050406030204" pitchFamily="18" charset="0"/>
                <a:ea typeface="Cambria" panose="02040503050406030204" pitchFamily="18" charset="0"/>
              </a:rPr>
              <a:t>Eq. (3)</a:t>
            </a:r>
            <a:r>
              <a:rPr lang="en-IN" dirty="0">
                <a:latin typeface="Cambria" panose="02040503050406030204" pitchFamily="18" charset="0"/>
                <a:ea typeface="Cambria" panose="02040503050406030204" pitchFamily="18" charset="0"/>
              </a:rPr>
              <a:t> Determines the proximity between survivor and zombie agents and is used to identify encounters, threats, and interaction events within the environment.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9466" y="129644"/>
            <a:ext cx="6093068" cy="584775"/>
          </a:xfrm>
          <a:prstGeom prst="rect">
            <a:avLst/>
          </a:prstGeom>
          <a:noFill/>
        </p:spPr>
        <p:txBody>
          <a:bodyPr wrap="square">
            <a:spAutoFit/>
          </a:bodyPr>
          <a:lstStyle/>
          <a:p>
            <a:pPr marR="0" lvl="0" algn="ctr" fontAlgn="base">
              <a:spcBef>
                <a:spcPts val="800"/>
              </a:spcBef>
              <a:spcAft>
                <a:spcPts val="400"/>
              </a:spcAft>
              <a:buSzPts val="1000"/>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p>
        </p:txBody>
      </p:sp>
      <p:sp>
        <p:nvSpPr>
          <p:cNvPr id="10" name="TextBox 9"/>
          <p:cNvSpPr txBox="1"/>
          <p:nvPr/>
        </p:nvSpPr>
        <p:spPr>
          <a:xfrm>
            <a:off x="838200" y="1100000"/>
            <a:ext cx="10515600" cy="461665"/>
          </a:xfrm>
          <a:prstGeom prst="rect">
            <a:avLst/>
          </a:prstGeom>
          <a:noFill/>
        </p:spPr>
        <p:txBody>
          <a:bodyPr wrap="square">
            <a:spAutoFit/>
          </a:bodyPr>
          <a:lstStyle/>
          <a:p>
            <a:pPr marL="0" indent="0"/>
            <a:r>
              <a:rPr lang="en-IN" sz="2200" b="1" dirty="0">
                <a:solidFill>
                  <a:schemeClr val="tx1"/>
                </a:solidFill>
                <a:latin typeface="Cambria" panose="02040503050406030204" pitchFamily="18" charset="0"/>
                <a:ea typeface="Cambria" panose="02040503050406030204" pitchFamily="18" charset="0"/>
              </a:rPr>
              <a:t>Step 4: Reinforcement Learning — Multi-Agent Q-Learning</a:t>
            </a:r>
          </a:p>
        </p:txBody>
      </p:sp>
      <p:sp>
        <p:nvSpPr>
          <p:cNvPr id="11" name="TextBox 10"/>
          <p:cNvSpPr txBox="1"/>
          <p:nvPr/>
        </p:nvSpPr>
        <p:spPr>
          <a:xfrm>
            <a:off x="838200" y="1573226"/>
            <a:ext cx="10515600" cy="600000"/>
          </a:xfrm>
          <a:prstGeom prst="rect">
            <a:avLst/>
          </a:prstGeom>
          <a:noFill/>
        </p:spPr>
        <p:txBody>
          <a:bodyPr wrap="square" anchor="ctr">
            <a:spAutoFit/>
          </a:bodyPr>
          <a:lstStyle/>
          <a:p>
            <a:pPr marL="0" indent="0" algn="ctr"/>
            <a:r>
              <a:rPr lang="en-IN" sz="2400" i="0" dirty="0">
                <a:solidFill>
                  <a:srgbClr val="EE0000"/>
                </a:solidFill>
                <a:latin typeface="Cambria" panose="02040503050406030204" pitchFamily="18" charset="0"/>
                <a:ea typeface="Cambria" panose="02040503050406030204" pitchFamily="18" charset="0"/>
              </a:rPr>
              <a:t>Q(s,a) = Q(s,a) + α[r + γ·maxQ(s′,a′) − Q(s,a)]      — (Eq. 4)</a:t>
            </a:r>
          </a:p>
        </p:txBody>
      </p:sp>
      <p:sp>
        <p:nvSpPr>
          <p:cNvPr id="12" name="TextBox 11"/>
          <p:cNvSpPr txBox="1"/>
          <p:nvPr/>
        </p:nvSpPr>
        <p:spPr>
          <a:xfrm>
            <a:off x="838200" y="6030817"/>
            <a:ext cx="10515600" cy="1500000"/>
          </a:xfrm>
          <a:prstGeom prst="rect">
            <a:avLst/>
          </a:prstGeom>
          <a:noFill/>
        </p:spPr>
        <p:txBody>
          <a:bodyPr wrap="square">
            <a:spAutoFit/>
          </a:bodyPr>
          <a:lstStyle/>
          <a:p>
            <a:pPr marL="0" indent="0" algn="just"/>
            <a:r>
              <a:rPr lang="en-IN" sz="1800" dirty="0">
                <a:solidFill>
                  <a:schemeClr val="tx1"/>
                </a:solidFill>
                <a:latin typeface="Cambria" panose="02040503050406030204" pitchFamily="18" charset="0"/>
                <a:ea typeface="Cambria" panose="02040503050406030204" pitchFamily="18" charset="0"/>
              </a:rPr>
              <a:t>Each survivor agent updates its action-value estimate Q(s,a) using the reward r received and the best achievable future value. Over repeated episodes, agents converge toward an optimal survival policy.</a:t>
            </a:r>
          </a:p>
        </p:txBody>
      </p:sp>
      <p:sp>
        <p:nvSpPr>
          <p:cNvPr id="4" name="TextBox 3">
            <a:extLst>
              <a:ext uri="{FF2B5EF4-FFF2-40B4-BE49-F238E27FC236}">
                <a16:creationId xmlns:a16="http://schemas.microsoft.com/office/drawing/2014/main" id="{E9CA3173-8AFE-D31B-D40F-CBB1AFF3F2DE}"/>
              </a:ext>
            </a:extLst>
          </p:cNvPr>
          <p:cNvSpPr txBox="1"/>
          <p:nvPr/>
        </p:nvSpPr>
        <p:spPr>
          <a:xfrm>
            <a:off x="1647408" y="2092259"/>
            <a:ext cx="9255818" cy="2862322"/>
          </a:xfrm>
          <a:prstGeom prst="rect">
            <a:avLst/>
          </a:prstGeom>
          <a:noFill/>
        </p:spPr>
        <p:txBody>
          <a:bodyPr wrap="square">
            <a:spAutoFit/>
          </a:bodyPr>
          <a:lstStyle/>
          <a:p>
            <a:pPr algn="just"/>
            <a:r>
              <a:rPr lang="en-IN" b="1" dirty="0">
                <a:latin typeface="Cambria" panose="02040503050406030204" pitchFamily="18" charset="0"/>
                <a:ea typeface="Cambria" panose="02040503050406030204" pitchFamily="18" charset="0"/>
              </a:rPr>
              <a:t>Example:</a:t>
            </a:r>
            <a:endParaRPr lang="en-IN" dirty="0">
              <a:latin typeface="Cambria" panose="02040503050406030204" pitchFamily="18" charset="0"/>
              <a:ea typeface="Cambria" panose="02040503050406030204" pitchFamily="18" charset="0"/>
            </a:endParaRPr>
          </a:p>
          <a:p>
            <a:pPr lvl="0" algn="just"/>
            <a:r>
              <a:rPr lang="en-IN" dirty="0">
                <a:latin typeface="Cambria" panose="02040503050406030204" pitchFamily="18" charset="0"/>
                <a:ea typeface="Cambria" panose="02040503050406030204" pitchFamily="18" charset="0"/>
              </a:rPr>
              <a:t>If Q(s,a) = 2, α = 0.1, r = 5, γ = 0.9, and maxQ(s′,a′) = 3, then Q(s,a) = 2 + 0.1[5 + 0.9(3) − 2] = 2 + 0.1(5.7) = 2.57, so the agent's Q-value updates from 2 to 2.57 after this action.</a:t>
            </a:r>
          </a:p>
          <a:p>
            <a:pPr lvl="0" algn="just"/>
            <a:endParaRPr lang="en-IN" b="1" dirty="0">
              <a:latin typeface="Cambria" panose="02040503050406030204" pitchFamily="18" charset="0"/>
              <a:ea typeface="Cambria" panose="02040503050406030204" pitchFamily="18" charset="0"/>
            </a:endParaRPr>
          </a:p>
          <a:p>
            <a:r>
              <a:rPr lang="en-IN" b="1" dirty="0" err="1">
                <a:latin typeface="Cambria" panose="02040503050406030204" pitchFamily="18" charset="0"/>
                <a:ea typeface="Cambria" panose="02040503050406030204" pitchFamily="18" charset="0"/>
              </a:rPr>
              <a:t>Ans:</a:t>
            </a:r>
            <a:r>
              <a:rPr lang="en-IN" dirty="0" err="1"/>
              <a:t>Given</a:t>
            </a:r>
            <a:r>
              <a:rPr lang="en-IN" dirty="0"/>
              <a:t> </a:t>
            </a:r>
            <a:r>
              <a:rPr lang="en-IN" b="1" dirty="0"/>
              <a:t>Q(</a:t>
            </a:r>
            <a:r>
              <a:rPr lang="en-IN" b="1" dirty="0" err="1"/>
              <a:t>s,a</a:t>
            </a:r>
            <a:r>
              <a:rPr lang="en-IN" b="1" dirty="0"/>
              <a:t>) = 2, α = 0.1, r = 5, γ = 0.9, and max Q(</a:t>
            </a:r>
            <a:r>
              <a:rPr lang="en-IN" b="1" dirty="0" err="1"/>
              <a:t>s′,a</a:t>
            </a:r>
            <a:r>
              <a:rPr lang="en-IN" b="1" dirty="0"/>
              <a:t>′) = 3</a:t>
            </a:r>
            <a:r>
              <a:rPr lang="en-IN" dirty="0"/>
              <a:t>.</a:t>
            </a:r>
            <a:br>
              <a:rPr lang="en-IN" dirty="0"/>
            </a:br>
            <a:r>
              <a:rPr lang="en-IN" dirty="0"/>
              <a:t>Updated Q-value: </a:t>
            </a:r>
            <a:r>
              <a:rPr lang="en-IN" b="1" dirty="0"/>
              <a:t>Q(</a:t>
            </a:r>
            <a:r>
              <a:rPr lang="en-IN" b="1" dirty="0" err="1"/>
              <a:t>s,a</a:t>
            </a:r>
            <a:r>
              <a:rPr lang="en-IN" b="1" dirty="0"/>
              <a:t>) = 2 + 0.1[5 + 0.9(3) − 2] = 2.57</a:t>
            </a:r>
            <a:r>
              <a:rPr lang="en-IN" dirty="0"/>
              <a:t>.</a:t>
            </a:r>
            <a:br>
              <a:rPr lang="en-IN" dirty="0"/>
            </a:br>
            <a:r>
              <a:rPr lang="en-IN" dirty="0"/>
              <a:t>Thus, the agent’s </a:t>
            </a:r>
            <a:r>
              <a:rPr lang="en-IN" b="1" dirty="0"/>
              <a:t>Q-value increases from 2 to 2.57</a:t>
            </a:r>
            <a:r>
              <a:rPr lang="en-IN" dirty="0"/>
              <a:t> after the action.</a:t>
            </a:r>
          </a:p>
          <a:p>
            <a:pPr lvl="0" algn="just"/>
            <a:endParaRPr lang="en-IN" b="1" dirty="0">
              <a:latin typeface="Cambria" panose="02040503050406030204" pitchFamily="18" charset="0"/>
              <a:ea typeface="Cambria" panose="02040503050406030204" pitchFamily="18" charset="0"/>
            </a:endParaRPr>
          </a:p>
          <a:p>
            <a:pPr algn="just"/>
            <a:r>
              <a:rPr lang="en-IN" b="1" dirty="0">
                <a:latin typeface="Cambria" panose="02040503050406030204" pitchFamily="18" charset="0"/>
                <a:ea typeface="Cambria" panose="02040503050406030204" pitchFamily="18" charset="0"/>
              </a:rPr>
              <a:t>Eq. (4)</a:t>
            </a:r>
            <a:r>
              <a:rPr lang="en-IN" dirty="0">
                <a:latin typeface="Cambria" panose="02040503050406030204" pitchFamily="18" charset="0"/>
                <a:ea typeface="Cambria" panose="02040503050406030204" pitchFamily="18" charset="0"/>
              </a:rPr>
              <a:t> Updates the Q-value of each survivor agent using the immediate reward and the best estimated future reward.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9466" y="129644"/>
            <a:ext cx="6093068" cy="584775"/>
          </a:xfrm>
          <a:prstGeom prst="rect">
            <a:avLst/>
          </a:prstGeom>
          <a:noFill/>
        </p:spPr>
        <p:txBody>
          <a:bodyPr wrap="square">
            <a:spAutoFit/>
          </a:bodyPr>
          <a:lstStyle/>
          <a:p>
            <a:pPr marR="0" lvl="0" algn="ctr" fontAlgn="base">
              <a:spcBef>
                <a:spcPts val="800"/>
              </a:spcBef>
              <a:spcAft>
                <a:spcPts val="400"/>
              </a:spcAft>
              <a:buSzPts val="1000"/>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p>
        </p:txBody>
      </p:sp>
      <p:sp>
        <p:nvSpPr>
          <p:cNvPr id="10" name="TextBox 9"/>
          <p:cNvSpPr txBox="1"/>
          <p:nvPr/>
        </p:nvSpPr>
        <p:spPr>
          <a:xfrm>
            <a:off x="838200" y="917120"/>
            <a:ext cx="10515600" cy="461665"/>
          </a:xfrm>
          <a:prstGeom prst="rect">
            <a:avLst/>
          </a:prstGeom>
          <a:noFill/>
        </p:spPr>
        <p:txBody>
          <a:bodyPr wrap="square">
            <a:spAutoFit/>
          </a:bodyPr>
          <a:lstStyle/>
          <a:p>
            <a:pPr marL="0" indent="0"/>
            <a:r>
              <a:rPr lang="en-IN" sz="2200" b="1" dirty="0">
                <a:solidFill>
                  <a:schemeClr val="tx1"/>
                </a:solidFill>
                <a:latin typeface="Cambria" panose="02040503050406030204" pitchFamily="18" charset="0"/>
                <a:ea typeface="Cambria" panose="02040503050406030204" pitchFamily="18" charset="0"/>
              </a:rPr>
              <a:t>Step 5: Evaluation &amp; Analysis — Survival Rate and Average Reward</a:t>
            </a:r>
          </a:p>
        </p:txBody>
      </p:sp>
      <p:sp>
        <p:nvSpPr>
          <p:cNvPr id="11" name="TextBox 10"/>
          <p:cNvSpPr txBox="1"/>
          <p:nvPr/>
        </p:nvSpPr>
        <p:spPr>
          <a:xfrm>
            <a:off x="838200" y="1592943"/>
            <a:ext cx="10515600" cy="600000"/>
          </a:xfrm>
          <a:prstGeom prst="rect">
            <a:avLst/>
          </a:prstGeom>
          <a:noFill/>
        </p:spPr>
        <p:txBody>
          <a:bodyPr wrap="square" anchor="ctr">
            <a:spAutoFit/>
          </a:bodyPr>
          <a:lstStyle/>
          <a:p>
            <a:pPr marL="0" indent="0" algn="ctr"/>
            <a:r>
              <a:rPr lang="en-IN" sz="2200" i="0" dirty="0">
                <a:solidFill>
                  <a:srgbClr val="EE0000"/>
                </a:solidFill>
                <a:latin typeface="Cambria" panose="02040503050406030204" pitchFamily="18" charset="0"/>
                <a:ea typeface="Cambria" panose="02040503050406030204" pitchFamily="18" charset="0"/>
              </a:rPr>
              <a:t>Survival Rate = (Number of Survivors / Total Agents) × 100      — (Eq. 5)</a:t>
            </a:r>
          </a:p>
        </p:txBody>
      </p:sp>
      <p:sp>
        <p:nvSpPr>
          <p:cNvPr id="13" name="TextBox 12"/>
          <p:cNvSpPr txBox="1"/>
          <p:nvPr/>
        </p:nvSpPr>
        <p:spPr>
          <a:xfrm>
            <a:off x="838200" y="2249140"/>
            <a:ext cx="10515600" cy="600000"/>
          </a:xfrm>
          <a:prstGeom prst="rect">
            <a:avLst/>
          </a:prstGeom>
          <a:noFill/>
        </p:spPr>
        <p:txBody>
          <a:bodyPr wrap="square" anchor="ctr">
            <a:spAutoFit/>
          </a:bodyPr>
          <a:lstStyle/>
          <a:p>
            <a:pPr marL="0" indent="0" algn="ctr"/>
            <a:r>
              <a:rPr lang="en-IN" sz="2200" i="0" dirty="0">
                <a:solidFill>
                  <a:srgbClr val="EE0000"/>
                </a:solidFill>
                <a:latin typeface="Cambria" panose="02040503050406030204" pitchFamily="18" charset="0"/>
                <a:ea typeface="Cambria" panose="02040503050406030204" pitchFamily="18" charset="0"/>
              </a:rPr>
              <a:t>Average Reward = Σ Rewards / Episodes      — (Eq. 6)</a:t>
            </a:r>
          </a:p>
        </p:txBody>
      </p:sp>
      <p:sp>
        <p:nvSpPr>
          <p:cNvPr id="5" name="TextBox 4">
            <a:extLst>
              <a:ext uri="{FF2B5EF4-FFF2-40B4-BE49-F238E27FC236}">
                <a16:creationId xmlns:a16="http://schemas.microsoft.com/office/drawing/2014/main" id="{F4634359-600A-C259-56DB-780C34C34A74}"/>
              </a:ext>
            </a:extLst>
          </p:cNvPr>
          <p:cNvSpPr txBox="1"/>
          <p:nvPr/>
        </p:nvSpPr>
        <p:spPr>
          <a:xfrm>
            <a:off x="1239520" y="3163524"/>
            <a:ext cx="9936480" cy="3416320"/>
          </a:xfrm>
          <a:prstGeom prst="rect">
            <a:avLst/>
          </a:prstGeom>
          <a:noFill/>
        </p:spPr>
        <p:txBody>
          <a:bodyPr wrap="square">
            <a:spAutoFit/>
          </a:bodyPr>
          <a:lstStyle/>
          <a:p>
            <a:pPr algn="just">
              <a:buNone/>
            </a:pPr>
            <a:r>
              <a:rPr lang="en-IN" b="1" dirty="0">
                <a:latin typeface="Cambria" panose="02040503050406030204" pitchFamily="18" charset="0"/>
                <a:ea typeface="Cambria" panose="02040503050406030204" pitchFamily="18" charset="0"/>
              </a:rPr>
              <a:t>Example:</a:t>
            </a:r>
            <a:endParaRPr lang="en-IN" dirty="0">
              <a:latin typeface="Cambria" panose="02040503050406030204" pitchFamily="18" charset="0"/>
              <a:ea typeface="Cambria" panose="02040503050406030204" pitchFamily="18" charset="0"/>
            </a:endParaRPr>
          </a:p>
          <a:p>
            <a:pPr algn="just">
              <a:buNone/>
            </a:pPr>
            <a:r>
              <a:rPr lang="en-IN" dirty="0">
                <a:latin typeface="Cambria" panose="02040503050406030204" pitchFamily="18" charset="0"/>
                <a:ea typeface="Cambria" panose="02040503050406030204" pitchFamily="18" charset="0"/>
              </a:rPr>
              <a:t>If 42 out of 50 agents survive a simulation run, Survival Rate = (42 / 50) × 100 = 84%. If the total reward accumulated over 100 training episodes is 3,200, Average Reward = 3200 / 100 = 32 per episode.</a:t>
            </a:r>
          </a:p>
          <a:p>
            <a:pPr algn="just">
              <a:buNone/>
            </a:pPr>
            <a:endParaRPr lang="en-IN" dirty="0">
              <a:latin typeface="Cambria" panose="02040503050406030204" pitchFamily="18" charset="0"/>
              <a:ea typeface="Cambria" panose="02040503050406030204" pitchFamily="18" charset="0"/>
            </a:endParaRPr>
          </a:p>
          <a:p>
            <a:pPr>
              <a:buNone/>
            </a:pPr>
            <a:r>
              <a:rPr lang="en-IN" b="1" dirty="0" err="1">
                <a:latin typeface="Cambria" panose="02040503050406030204" pitchFamily="18" charset="0"/>
                <a:ea typeface="Cambria" panose="02040503050406030204" pitchFamily="18" charset="0"/>
              </a:rPr>
              <a:t>Ans:</a:t>
            </a:r>
            <a:r>
              <a:rPr lang="en-IN" dirty="0" err="1"/>
              <a:t>If</a:t>
            </a:r>
            <a:r>
              <a:rPr lang="en-IN" dirty="0"/>
              <a:t> </a:t>
            </a:r>
            <a:r>
              <a:rPr lang="en-IN" b="1" dirty="0"/>
              <a:t>42 out of 50 agents survive</a:t>
            </a:r>
            <a:r>
              <a:rPr lang="en-IN" dirty="0"/>
              <a:t>, Survival Rate = </a:t>
            </a:r>
            <a:r>
              <a:rPr lang="en-IN" b="1" dirty="0"/>
              <a:t>(42/50) × 100 = 84%</a:t>
            </a:r>
            <a:r>
              <a:rPr lang="en-IN" dirty="0"/>
              <a:t>.</a:t>
            </a:r>
            <a:br>
              <a:rPr lang="en-IN" dirty="0"/>
            </a:br>
            <a:r>
              <a:rPr lang="en-IN" dirty="0"/>
              <a:t>For </a:t>
            </a:r>
            <a:r>
              <a:rPr lang="en-IN" b="1" dirty="0"/>
              <a:t>3,200 total reward over 100 episodes</a:t>
            </a:r>
            <a:r>
              <a:rPr lang="en-IN" dirty="0"/>
              <a:t>, Average Reward = </a:t>
            </a:r>
            <a:r>
              <a:rPr lang="en-IN" b="1" dirty="0"/>
              <a:t>3,200/100 = 32</a:t>
            </a:r>
            <a:r>
              <a:rPr lang="en-IN" dirty="0"/>
              <a:t>.</a:t>
            </a:r>
            <a:br>
              <a:rPr lang="en-IN" dirty="0"/>
            </a:br>
            <a:r>
              <a:rPr lang="en-IN" dirty="0"/>
              <a:t>Therefore, the simulation achieves an </a:t>
            </a:r>
            <a:r>
              <a:rPr lang="en-IN" b="1" dirty="0"/>
              <a:t>84% survival rate</a:t>
            </a:r>
            <a:r>
              <a:rPr lang="en-IN" dirty="0"/>
              <a:t> and </a:t>
            </a:r>
            <a:r>
              <a:rPr lang="en-IN" b="1" dirty="0"/>
              <a:t>32 average reward per episode</a:t>
            </a:r>
            <a:r>
              <a:rPr lang="en-IN" dirty="0"/>
              <a:t>.</a:t>
            </a:r>
            <a:endParaRPr lang="en-IN" b="1" dirty="0">
              <a:latin typeface="Cambria" panose="02040503050406030204" pitchFamily="18" charset="0"/>
              <a:ea typeface="Cambria" panose="02040503050406030204" pitchFamily="18" charset="0"/>
            </a:endParaRPr>
          </a:p>
          <a:p>
            <a:pPr>
              <a:buNone/>
            </a:pPr>
            <a:endParaRPr lang="en-IN" dirty="0">
              <a:latin typeface="Cambria" panose="02040503050406030204" pitchFamily="18" charset="0"/>
              <a:ea typeface="Cambria" panose="02040503050406030204" pitchFamily="18" charset="0"/>
            </a:endParaRPr>
          </a:p>
          <a:p>
            <a:pPr algn="just">
              <a:buNone/>
            </a:pPr>
            <a:r>
              <a:rPr lang="en-IN" b="1" dirty="0">
                <a:latin typeface="Cambria" panose="02040503050406030204" pitchFamily="18" charset="0"/>
                <a:ea typeface="Cambria" panose="02040503050406030204" pitchFamily="18" charset="0"/>
              </a:rPr>
              <a:t>Eq. (5)</a:t>
            </a:r>
            <a:r>
              <a:rPr lang="en-IN" dirty="0">
                <a:latin typeface="Cambria" panose="02040503050406030204" pitchFamily="18" charset="0"/>
                <a:ea typeface="Cambria" panose="02040503050406030204" pitchFamily="18" charset="0"/>
              </a:rPr>
              <a:t> Measures the percentage of agents that successfully survive the simulation.</a:t>
            </a:r>
          </a:p>
          <a:p>
            <a:pPr algn="just">
              <a:buNone/>
            </a:pPr>
            <a:endParaRPr lang="en-IN" dirty="0">
              <a:latin typeface="Cambria" panose="02040503050406030204" pitchFamily="18" charset="0"/>
              <a:ea typeface="Cambria" panose="02040503050406030204" pitchFamily="18" charset="0"/>
            </a:endParaRPr>
          </a:p>
          <a:p>
            <a:pPr algn="just">
              <a:buNone/>
            </a:pPr>
            <a:r>
              <a:rPr lang="en-IN" b="1" dirty="0">
                <a:latin typeface="Cambria" panose="02040503050406030204" pitchFamily="18" charset="0"/>
                <a:ea typeface="Cambria" panose="02040503050406030204" pitchFamily="18" charset="0"/>
              </a:rPr>
              <a:t>Eq. (6)</a:t>
            </a:r>
            <a:r>
              <a:rPr lang="en-IN" dirty="0">
                <a:latin typeface="Cambria" panose="02040503050406030204" pitchFamily="18" charset="0"/>
                <a:ea typeface="Cambria" panose="02040503050406030204" pitchFamily="18" charset="0"/>
              </a:rPr>
              <a:t> Measures the average reward obtained during the learning process.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9466" y="129644"/>
            <a:ext cx="6093068" cy="584775"/>
          </a:xfrm>
          <a:prstGeom prst="rect">
            <a:avLst/>
          </a:prstGeom>
          <a:noFill/>
        </p:spPr>
        <p:txBody>
          <a:bodyPr wrap="square">
            <a:spAutoFit/>
          </a:bodyPr>
          <a:lstStyle/>
          <a:p>
            <a:pPr marR="0" lvl="0" algn="ctr" fontAlgn="base">
              <a:spcBef>
                <a:spcPts val="800"/>
              </a:spcBef>
              <a:spcAft>
                <a:spcPts val="400"/>
              </a:spcAft>
              <a:buSzPts val="1000"/>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p>
        </p:txBody>
      </p:sp>
      <p:sp>
        <p:nvSpPr>
          <p:cNvPr id="10" name="TextBox 9"/>
          <p:cNvSpPr txBox="1"/>
          <p:nvPr/>
        </p:nvSpPr>
        <p:spPr>
          <a:xfrm>
            <a:off x="838200" y="1100000"/>
            <a:ext cx="10515600" cy="461665"/>
          </a:xfrm>
          <a:prstGeom prst="rect">
            <a:avLst/>
          </a:prstGeom>
          <a:noFill/>
        </p:spPr>
        <p:txBody>
          <a:bodyPr wrap="square">
            <a:spAutoFit/>
          </a:bodyPr>
          <a:lstStyle/>
          <a:p>
            <a:pPr marL="0" indent="0"/>
            <a:r>
              <a:rPr lang="en-IN" sz="2200" b="1" dirty="0">
                <a:solidFill>
                  <a:schemeClr val="tx1"/>
                </a:solidFill>
                <a:latin typeface="Cambria" panose="02040503050406030204" pitchFamily="18" charset="0"/>
                <a:ea typeface="Cambria" panose="02040503050406030204" pitchFamily="18" charset="0"/>
              </a:rPr>
              <a:t>Step 6: Visualization &amp; Comparison — Percentage Improvement</a:t>
            </a:r>
          </a:p>
        </p:txBody>
      </p:sp>
      <p:sp>
        <p:nvSpPr>
          <p:cNvPr id="11" name="TextBox 10"/>
          <p:cNvSpPr txBox="1"/>
          <p:nvPr/>
        </p:nvSpPr>
        <p:spPr>
          <a:xfrm>
            <a:off x="838200" y="1672621"/>
            <a:ext cx="10515600" cy="600000"/>
          </a:xfrm>
          <a:prstGeom prst="rect">
            <a:avLst/>
          </a:prstGeom>
          <a:noFill/>
        </p:spPr>
        <p:txBody>
          <a:bodyPr wrap="square" anchor="ctr">
            <a:spAutoFit/>
          </a:bodyPr>
          <a:lstStyle/>
          <a:p>
            <a:pPr marL="0" indent="0" algn="ctr"/>
            <a:r>
              <a:rPr lang="en-IN" sz="2400" i="0" dirty="0">
                <a:solidFill>
                  <a:srgbClr val="EE0000"/>
                </a:solidFill>
                <a:latin typeface="Cambria" panose="02040503050406030204" pitchFamily="18" charset="0"/>
                <a:ea typeface="Cambria" panose="02040503050406030204" pitchFamily="18" charset="0"/>
              </a:rPr>
              <a:t>Improvement (%) = [(Proposed − Existing) / Existing] × 100      — (Eq. 7)</a:t>
            </a:r>
          </a:p>
        </p:txBody>
      </p:sp>
      <p:sp>
        <p:nvSpPr>
          <p:cNvPr id="12" name="TextBox 11"/>
          <p:cNvSpPr txBox="1"/>
          <p:nvPr/>
        </p:nvSpPr>
        <p:spPr>
          <a:xfrm>
            <a:off x="838200" y="5702829"/>
            <a:ext cx="10515600" cy="1500000"/>
          </a:xfrm>
          <a:prstGeom prst="rect">
            <a:avLst/>
          </a:prstGeom>
          <a:noFill/>
        </p:spPr>
        <p:txBody>
          <a:bodyPr wrap="square">
            <a:spAutoFit/>
          </a:bodyPr>
          <a:lstStyle/>
          <a:p>
            <a:pPr marL="0" indent="0" algn="just"/>
            <a:r>
              <a:rPr lang="en-IN" sz="1800" dirty="0">
                <a:solidFill>
                  <a:schemeClr val="tx1"/>
                </a:solidFill>
                <a:latin typeface="Cambria" panose="02040503050406030204" pitchFamily="18" charset="0"/>
                <a:ea typeface="Cambria" panose="02040503050406030204" pitchFamily="18" charset="0"/>
              </a:rPr>
              <a:t>The proposed RL-based framework is compared against a baseline approach using percentage improvement. Results are visualized through graphs and heatmaps, forming the basis for the final findings and conclusions.</a:t>
            </a:r>
          </a:p>
        </p:txBody>
      </p:sp>
      <p:sp>
        <p:nvSpPr>
          <p:cNvPr id="4" name="TextBox 3">
            <a:extLst>
              <a:ext uri="{FF2B5EF4-FFF2-40B4-BE49-F238E27FC236}">
                <a16:creationId xmlns:a16="http://schemas.microsoft.com/office/drawing/2014/main" id="{3CBD1612-FD35-B1D9-7E09-20A9F217F2F0}"/>
              </a:ext>
            </a:extLst>
          </p:cNvPr>
          <p:cNvSpPr txBox="1"/>
          <p:nvPr/>
        </p:nvSpPr>
        <p:spPr>
          <a:xfrm>
            <a:off x="1014397" y="2457643"/>
            <a:ext cx="10354643" cy="3139321"/>
          </a:xfrm>
          <a:prstGeom prst="rect">
            <a:avLst/>
          </a:prstGeom>
          <a:noFill/>
        </p:spPr>
        <p:txBody>
          <a:bodyPr wrap="square">
            <a:spAutoFit/>
          </a:bodyPr>
          <a:lstStyle/>
          <a:p>
            <a:pPr algn="just"/>
            <a:r>
              <a:rPr lang="en-IN" b="1" dirty="0">
                <a:latin typeface="Cambria" panose="02040503050406030204" pitchFamily="18" charset="0"/>
                <a:ea typeface="Cambria" panose="02040503050406030204" pitchFamily="18" charset="0"/>
              </a:rPr>
              <a:t>Example:</a:t>
            </a:r>
            <a:endParaRPr lang="en-IN" dirty="0">
              <a:latin typeface="Cambria" panose="02040503050406030204" pitchFamily="18" charset="0"/>
              <a:ea typeface="Cambria" panose="02040503050406030204" pitchFamily="18" charset="0"/>
            </a:endParaRPr>
          </a:p>
          <a:p>
            <a:pPr lvl="0" algn="just"/>
            <a:r>
              <a:rPr lang="en-IN" dirty="0">
                <a:latin typeface="Cambria" panose="02040503050406030204" pitchFamily="18" charset="0"/>
                <a:ea typeface="Cambria" panose="02040503050406030204" pitchFamily="18" charset="0"/>
              </a:rPr>
              <a:t>If the existing baseline achieves a survival rate of 65% and the proposed RL-based model achieves 84%, then Improvement (%) = [(84 − 65) / 65] × 100 ≈ 29.2%, showing the RL approach outperforms the baseline by about 29%.</a:t>
            </a:r>
          </a:p>
          <a:p>
            <a:pPr lvl="0" algn="just"/>
            <a:endParaRPr lang="en-IN" dirty="0">
              <a:latin typeface="Cambria" panose="02040503050406030204" pitchFamily="18" charset="0"/>
              <a:ea typeface="Cambria" panose="02040503050406030204" pitchFamily="18" charset="0"/>
            </a:endParaRPr>
          </a:p>
          <a:p>
            <a:pPr lvl="0"/>
            <a:r>
              <a:rPr lang="en-IN" b="1" dirty="0" err="1">
                <a:latin typeface="Cambria" panose="02040503050406030204" pitchFamily="18" charset="0"/>
                <a:ea typeface="Cambria" panose="02040503050406030204" pitchFamily="18" charset="0"/>
              </a:rPr>
              <a:t>Ans:</a:t>
            </a:r>
            <a:r>
              <a:rPr lang="en-IN" dirty="0" err="1"/>
              <a:t>Baseline</a:t>
            </a:r>
            <a:r>
              <a:rPr lang="en-IN" dirty="0"/>
              <a:t> survival rate = </a:t>
            </a:r>
            <a:r>
              <a:rPr lang="en-IN" b="1" dirty="0"/>
              <a:t>65%</a:t>
            </a:r>
            <a:r>
              <a:rPr lang="en-IN" dirty="0"/>
              <a:t>, while the RL-based model achieves </a:t>
            </a:r>
            <a:r>
              <a:rPr lang="en-IN" b="1" dirty="0"/>
              <a:t>84%</a:t>
            </a:r>
            <a:r>
              <a:rPr lang="en-IN" dirty="0"/>
              <a:t>.</a:t>
            </a:r>
            <a:br>
              <a:rPr lang="en-IN" dirty="0"/>
            </a:br>
            <a:r>
              <a:rPr lang="en-IN" dirty="0"/>
              <a:t>Improvement = </a:t>
            </a:r>
            <a:r>
              <a:rPr lang="en-IN" b="1" dirty="0"/>
              <a:t>[(84 − 65) / 65] × 100 ≈ 29.2%</a:t>
            </a:r>
            <a:r>
              <a:rPr lang="en-IN" dirty="0"/>
              <a:t>.</a:t>
            </a:r>
            <a:br>
              <a:rPr lang="en-IN" dirty="0"/>
            </a:br>
            <a:r>
              <a:rPr lang="en-IN" dirty="0"/>
              <a:t>Thus, the RL model improves survival performance by approximately </a:t>
            </a:r>
            <a:r>
              <a:rPr lang="en-IN" b="1" dirty="0"/>
              <a:t>29.2%</a:t>
            </a:r>
            <a:r>
              <a:rPr lang="en-IN" dirty="0"/>
              <a:t> over the baseline.</a:t>
            </a:r>
            <a:endParaRPr lang="en-IN" b="1" dirty="0">
              <a:latin typeface="Cambria" panose="02040503050406030204" pitchFamily="18" charset="0"/>
              <a:ea typeface="Cambria" panose="02040503050406030204" pitchFamily="18" charset="0"/>
            </a:endParaRPr>
          </a:p>
          <a:p>
            <a:pPr lvl="0"/>
            <a:endParaRPr lang="en-IN" dirty="0">
              <a:latin typeface="Cambria" panose="02040503050406030204" pitchFamily="18" charset="0"/>
              <a:ea typeface="Cambria" panose="02040503050406030204" pitchFamily="18" charset="0"/>
            </a:endParaRPr>
          </a:p>
          <a:p>
            <a:pPr algn="just"/>
            <a:r>
              <a:rPr lang="en-IN" b="1" dirty="0">
                <a:latin typeface="Cambria" panose="02040503050406030204" pitchFamily="18" charset="0"/>
                <a:ea typeface="Cambria" panose="02040503050406030204" pitchFamily="18" charset="0"/>
              </a:rPr>
              <a:t>Eq. (7)</a:t>
            </a:r>
            <a:r>
              <a:rPr lang="en-IN" dirty="0">
                <a:latin typeface="Cambria" panose="02040503050406030204" pitchFamily="18" charset="0"/>
                <a:ea typeface="Cambria" panose="02040503050406030204" pitchFamily="18" charset="0"/>
              </a:rPr>
              <a:t> Quantifies the performance improvement achieved by the proposed Multi-Agent Q-Learning framework compared with the existing rule-based approach.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9466" y="129644"/>
            <a:ext cx="6093068" cy="584775"/>
          </a:xfrm>
          <a:prstGeom prst="rect">
            <a:avLst/>
          </a:prstGeom>
          <a:noFill/>
        </p:spPr>
        <p:txBody>
          <a:bodyPr wrap="square">
            <a:spAutoFit/>
          </a:bodyPr>
          <a:lstStyle/>
          <a:p>
            <a:pPr marR="0" lvl="0" algn="ctr" fontAlgn="base">
              <a:spcBef>
                <a:spcPts val="800"/>
              </a:spcBef>
              <a:spcAft>
                <a:spcPts val="400"/>
              </a:spcAft>
              <a:buSzPts val="1000"/>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Modules</a:t>
            </a:r>
          </a:p>
        </p:txBody>
      </p:sp>
      <p:sp>
        <p:nvSpPr>
          <p:cNvPr id="10" name="TextBox 9"/>
          <p:cNvSpPr txBox="1"/>
          <p:nvPr/>
        </p:nvSpPr>
        <p:spPr>
          <a:xfrm>
            <a:off x="838200" y="1626467"/>
            <a:ext cx="10515600" cy="461665"/>
          </a:xfrm>
          <a:prstGeom prst="rect">
            <a:avLst/>
          </a:prstGeom>
          <a:noFill/>
        </p:spPr>
        <p:txBody>
          <a:bodyPr wrap="square">
            <a:spAutoFit/>
          </a:bodyPr>
          <a:lstStyle/>
          <a:p>
            <a:pPr marL="0" indent="0"/>
            <a:r>
              <a:rPr lang="en-IN" sz="2200" b="1" dirty="0">
                <a:solidFill>
                  <a:schemeClr val="tx1"/>
                </a:solidFill>
                <a:latin typeface="Cambria" panose="02040503050406030204" pitchFamily="18" charset="0"/>
                <a:ea typeface="Cambria" panose="02040503050406030204" pitchFamily="18" charset="0"/>
              </a:rPr>
              <a:t>Module 1: Data Engineering (GMM + Preprocessing)</a:t>
            </a:r>
          </a:p>
        </p:txBody>
      </p:sp>
      <p:sp>
        <p:nvSpPr>
          <p:cNvPr id="11" name="TextBox 10"/>
          <p:cNvSpPr txBox="1"/>
          <p:nvPr/>
        </p:nvSpPr>
        <p:spPr>
          <a:xfrm>
            <a:off x="838200" y="2326467"/>
            <a:ext cx="10515600" cy="253396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Generates synthetic survivor, zombie, and environment data using a Gaussian Mixture Model (GMM).</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Combines multiple weighted Gaussian components to capture realistic variation across agent types.</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Applies Min-Max normalization to rescale all features into a consistent [0, 1] range.</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Prepares clean, ready-to-use data for the simulation and learning stages that follow.</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Both steps share the same input/output boundary, so they are grouped into a single data-readiness module.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9466" y="129644"/>
            <a:ext cx="6093068" cy="584775"/>
          </a:xfrm>
          <a:prstGeom prst="rect">
            <a:avLst/>
          </a:prstGeom>
          <a:noFill/>
        </p:spPr>
        <p:txBody>
          <a:bodyPr wrap="square">
            <a:spAutoFit/>
          </a:bodyPr>
          <a:lstStyle/>
          <a:p>
            <a:pPr marR="0" lvl="0" algn="ctr" fontAlgn="base">
              <a:spcBef>
                <a:spcPts val="800"/>
              </a:spcBef>
              <a:spcAft>
                <a:spcPts val="400"/>
              </a:spcAft>
              <a:buSzPts val="1000"/>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Modules</a:t>
            </a:r>
          </a:p>
        </p:txBody>
      </p:sp>
      <p:sp>
        <p:nvSpPr>
          <p:cNvPr id="10" name="TextBox 9"/>
          <p:cNvSpPr txBox="1"/>
          <p:nvPr/>
        </p:nvSpPr>
        <p:spPr>
          <a:xfrm>
            <a:off x="838200" y="1696044"/>
            <a:ext cx="10515600" cy="461665"/>
          </a:xfrm>
          <a:prstGeom prst="rect">
            <a:avLst/>
          </a:prstGeom>
          <a:noFill/>
        </p:spPr>
        <p:txBody>
          <a:bodyPr wrap="square">
            <a:spAutoFit/>
          </a:bodyPr>
          <a:lstStyle/>
          <a:p>
            <a:pPr marL="0" indent="0"/>
            <a:r>
              <a:rPr lang="en-IN" sz="2200" b="1" dirty="0">
                <a:solidFill>
                  <a:schemeClr val="tx1"/>
                </a:solidFill>
                <a:latin typeface="Cambria" panose="02040503050406030204" pitchFamily="18" charset="0"/>
                <a:ea typeface="Cambria" panose="02040503050406030204" pitchFamily="18" charset="0"/>
              </a:rPr>
              <a:t>Module 2: Simulation Environment (Agent-Based Simulation)</a:t>
            </a:r>
          </a:p>
        </p:txBody>
      </p:sp>
      <p:sp>
        <p:nvSpPr>
          <p:cNvPr id="11" name="TextBox 10"/>
          <p:cNvSpPr txBox="1"/>
          <p:nvPr/>
        </p:nvSpPr>
        <p:spPr>
          <a:xfrm>
            <a:off x="838200" y="2396044"/>
            <a:ext cx="10515600" cy="211846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Defines the virtual environment in which survivor and zombie agents operate.</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Places agents within the environment and models their positions and movement.</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Uses Euclidean distance to detect proximity between agents and trigger interactions.</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Establishes the physics and interaction rules governing encounters and events.</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Acts as the self-contained “world” layer, independent of how agents learn or are evaluated.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9466" y="397998"/>
            <a:ext cx="6093068" cy="584775"/>
          </a:xfrm>
          <a:prstGeom prst="rect">
            <a:avLst/>
          </a:prstGeom>
          <a:noFill/>
        </p:spPr>
        <p:txBody>
          <a:bodyPr wrap="square">
            <a:spAutoFit/>
          </a:bodyPr>
          <a:lstStyle/>
          <a:p>
            <a:pPr marR="0" lvl="0" algn="ctr" fontAlgn="base">
              <a:spcBef>
                <a:spcPts val="800"/>
              </a:spcBef>
              <a:spcAft>
                <a:spcPts val="400"/>
              </a:spcAft>
              <a:buSzPts val="1000"/>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Modules</a:t>
            </a:r>
          </a:p>
        </p:txBody>
      </p:sp>
      <p:sp>
        <p:nvSpPr>
          <p:cNvPr id="10" name="TextBox 9"/>
          <p:cNvSpPr txBox="1"/>
          <p:nvPr/>
        </p:nvSpPr>
        <p:spPr>
          <a:xfrm>
            <a:off x="838200" y="1775554"/>
            <a:ext cx="10515600" cy="461665"/>
          </a:xfrm>
          <a:prstGeom prst="rect">
            <a:avLst/>
          </a:prstGeom>
          <a:noFill/>
        </p:spPr>
        <p:txBody>
          <a:bodyPr wrap="square">
            <a:spAutoFit/>
          </a:bodyPr>
          <a:lstStyle/>
          <a:p>
            <a:pPr marL="0" indent="0"/>
            <a:r>
              <a:rPr lang="en-IN" sz="2200" b="1" dirty="0">
                <a:solidFill>
                  <a:schemeClr val="tx1"/>
                </a:solidFill>
                <a:latin typeface="Cambria" panose="02040503050406030204" pitchFamily="18" charset="0"/>
                <a:ea typeface="Cambria" panose="02040503050406030204" pitchFamily="18" charset="0"/>
              </a:rPr>
              <a:t>Module 3: Reinforcement Learning Core (Multi-Agent Q-Learning)</a:t>
            </a:r>
          </a:p>
        </p:txBody>
      </p:sp>
      <p:sp>
        <p:nvSpPr>
          <p:cNvPr id="11" name="TextBox 10"/>
          <p:cNvSpPr txBox="1"/>
          <p:nvPr/>
        </p:nvSpPr>
        <p:spPr>
          <a:xfrm>
            <a:off x="838200" y="2475554"/>
            <a:ext cx="10515600" cy="211846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Implements Multi-Agent Q-Learning to train survivor agents.</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Updates each agent’s Q-values based on the reward received and the best future value.</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Shapes reward signals to encourage effective survival strategies.</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Allows agents to adapt their policy over repeated training episodes.</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Represents the intellectual core of the project, carrying the most algorithmic complexity.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9466" y="129644"/>
            <a:ext cx="6093068" cy="584775"/>
          </a:xfrm>
          <a:prstGeom prst="rect">
            <a:avLst/>
          </a:prstGeom>
          <a:noFill/>
        </p:spPr>
        <p:txBody>
          <a:bodyPr wrap="square">
            <a:spAutoFit/>
          </a:bodyPr>
          <a:lstStyle/>
          <a:p>
            <a:pPr marR="0" lvl="0" algn="ctr" fontAlgn="base">
              <a:spcBef>
                <a:spcPts val="800"/>
              </a:spcBef>
              <a:spcAft>
                <a:spcPts val="400"/>
              </a:spcAft>
              <a:buSzPts val="1000"/>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Modules</a:t>
            </a:r>
          </a:p>
        </p:txBody>
      </p:sp>
      <p:sp>
        <p:nvSpPr>
          <p:cNvPr id="10" name="TextBox 9"/>
          <p:cNvSpPr txBox="1"/>
          <p:nvPr/>
        </p:nvSpPr>
        <p:spPr>
          <a:xfrm>
            <a:off x="838200" y="1795433"/>
            <a:ext cx="10515600" cy="461665"/>
          </a:xfrm>
          <a:prstGeom prst="rect">
            <a:avLst/>
          </a:prstGeom>
          <a:noFill/>
        </p:spPr>
        <p:txBody>
          <a:bodyPr wrap="square">
            <a:spAutoFit/>
          </a:bodyPr>
          <a:lstStyle/>
          <a:p>
            <a:pPr marL="0" indent="0"/>
            <a:r>
              <a:rPr lang="en-IN" sz="2200" b="1" dirty="0">
                <a:solidFill>
                  <a:schemeClr val="tx1"/>
                </a:solidFill>
                <a:latin typeface="Cambria" panose="02040503050406030204" pitchFamily="18" charset="0"/>
                <a:ea typeface="Cambria" panose="02040503050406030204" pitchFamily="18" charset="0"/>
              </a:rPr>
              <a:t>Module 4: Evaluation &amp; Metrics (Survival Rate, Average Reward, % Improvement)</a:t>
            </a:r>
          </a:p>
        </p:txBody>
      </p:sp>
      <p:sp>
        <p:nvSpPr>
          <p:cNvPr id="11" name="TextBox 10"/>
          <p:cNvSpPr txBox="1"/>
          <p:nvPr/>
        </p:nvSpPr>
        <p:spPr>
          <a:xfrm>
            <a:off x="838200" y="2495433"/>
            <a:ext cx="10515600" cy="211846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Measures Survival Rate as the percentage of agents alive at the end of a run.</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Tracks Average Reward to assess how effectively agents are learning.</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Computes Percentage Improvement to compare the proposed system against a baseline.</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Operates independently of training, consuming the RL module’s output for objective scoring.</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Provides consistent, comparable metrics across different versions of the trained agent.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9466" y="129644"/>
            <a:ext cx="6093068" cy="584775"/>
          </a:xfrm>
          <a:prstGeom prst="rect">
            <a:avLst/>
          </a:prstGeom>
          <a:noFill/>
        </p:spPr>
        <p:txBody>
          <a:bodyPr wrap="square">
            <a:spAutoFit/>
          </a:bodyPr>
          <a:lstStyle/>
          <a:p>
            <a:pPr marR="0" lvl="0" algn="ctr" fontAlgn="base">
              <a:spcBef>
                <a:spcPts val="800"/>
              </a:spcBef>
              <a:spcAft>
                <a:spcPts val="400"/>
              </a:spcAft>
              <a:buSzPts val="1000"/>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Modules</a:t>
            </a:r>
          </a:p>
        </p:txBody>
      </p:sp>
      <p:sp>
        <p:nvSpPr>
          <p:cNvPr id="10" name="TextBox 9"/>
          <p:cNvSpPr txBox="1"/>
          <p:nvPr/>
        </p:nvSpPr>
        <p:spPr>
          <a:xfrm>
            <a:off x="838200" y="1795435"/>
            <a:ext cx="10515600" cy="461665"/>
          </a:xfrm>
          <a:prstGeom prst="rect">
            <a:avLst/>
          </a:prstGeom>
          <a:noFill/>
        </p:spPr>
        <p:txBody>
          <a:bodyPr wrap="square">
            <a:spAutoFit/>
          </a:bodyPr>
          <a:lstStyle/>
          <a:p>
            <a:pPr marL="0" indent="0"/>
            <a:r>
              <a:rPr lang="en-IN" sz="2200" b="1" dirty="0">
                <a:solidFill>
                  <a:schemeClr val="tx1"/>
                </a:solidFill>
                <a:latin typeface="Cambria" panose="02040503050406030204" pitchFamily="18" charset="0"/>
                <a:ea typeface="Cambria" panose="02040503050406030204" pitchFamily="18" charset="0"/>
              </a:rPr>
              <a:t>Module 5: Visualization &amp; Reporting (Graphs, Heatmaps, Findings)</a:t>
            </a:r>
          </a:p>
        </p:txBody>
      </p:sp>
      <p:sp>
        <p:nvSpPr>
          <p:cNvPr id="11" name="TextBox 10"/>
          <p:cNvSpPr txBox="1"/>
          <p:nvPr/>
        </p:nvSpPr>
        <p:spPr>
          <a:xfrm>
            <a:off x="838200" y="2495435"/>
            <a:ext cx="10515600" cy="211846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Plots results using graphs and heatmaps for clear interpretation.</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Visualizes trends in survival rate and reward across training episodes.</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Builds dashboards summarizing agent and environment behavior.</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Consolidates results into final insights and recommendations.</a:t>
            </a:r>
          </a:p>
          <a:p>
            <a:pPr marL="285750" indent="-285750">
              <a:lnSpc>
                <a:spcPct val="150000"/>
              </a:lnSpc>
              <a:buFont typeface="Arial" panose="020B0604020202020204" pitchFamily="34" charset="0"/>
              <a:buChar char="•"/>
            </a:pPr>
            <a:r>
              <a:rPr lang="en-IN" sz="1800" dirty="0">
                <a:solidFill>
                  <a:schemeClr val="tx1"/>
                </a:solidFill>
                <a:latin typeface="Cambria" panose="02040503050406030204" pitchFamily="18" charset="0"/>
                <a:ea typeface="Cambria" panose="02040503050406030204" pitchFamily="18" charset="0"/>
              </a:rPr>
              <a:t>Forms the communication layer that turns numeric results into audience-ready output.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AA2EEB-79AE-AF0E-3085-9CC3D4ACC28C}"/>
              </a:ext>
            </a:extLst>
          </p:cNvPr>
          <p:cNvSpPr txBox="1"/>
          <p:nvPr/>
        </p:nvSpPr>
        <p:spPr>
          <a:xfrm>
            <a:off x="4005944" y="44698"/>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Results</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9741E4E6-13EB-E5C0-F207-304CFF34AD97}"/>
              </a:ext>
            </a:extLst>
          </p:cNvPr>
          <p:cNvPicPr>
            <a:picLocks noChangeAspect="1"/>
          </p:cNvPicPr>
          <p:nvPr/>
        </p:nvPicPr>
        <p:blipFill>
          <a:blip r:embed="rId2"/>
          <a:stretch>
            <a:fillRect/>
          </a:stretch>
        </p:blipFill>
        <p:spPr>
          <a:xfrm>
            <a:off x="386706" y="764855"/>
            <a:ext cx="5709293" cy="3320621"/>
          </a:xfrm>
          <a:prstGeom prst="rect">
            <a:avLst/>
          </a:prstGeom>
        </p:spPr>
      </p:pic>
      <p:pic>
        <p:nvPicPr>
          <p:cNvPr id="6" name="Picture 5">
            <a:extLst>
              <a:ext uri="{FF2B5EF4-FFF2-40B4-BE49-F238E27FC236}">
                <a16:creationId xmlns:a16="http://schemas.microsoft.com/office/drawing/2014/main" id="{4B124281-B23A-CBC3-3683-164C8956C208}"/>
              </a:ext>
            </a:extLst>
          </p:cNvPr>
          <p:cNvPicPr>
            <a:picLocks noChangeAspect="1"/>
          </p:cNvPicPr>
          <p:nvPr/>
        </p:nvPicPr>
        <p:blipFill>
          <a:blip r:embed="rId3"/>
          <a:stretch>
            <a:fillRect/>
          </a:stretch>
        </p:blipFill>
        <p:spPr>
          <a:xfrm>
            <a:off x="6331353" y="3571000"/>
            <a:ext cx="5451676" cy="3139587"/>
          </a:xfrm>
          <a:prstGeom prst="rect">
            <a:avLst/>
          </a:prstGeom>
        </p:spPr>
      </p:pic>
      <p:sp>
        <p:nvSpPr>
          <p:cNvPr id="10" name="Rectangle 9">
            <a:extLst>
              <a:ext uri="{FF2B5EF4-FFF2-40B4-BE49-F238E27FC236}">
                <a16:creationId xmlns:a16="http://schemas.microsoft.com/office/drawing/2014/main" id="{933B0D20-B277-6D49-CBCA-4289CA47D6C9}"/>
              </a:ext>
            </a:extLst>
          </p:cNvPr>
          <p:cNvSpPr/>
          <p:nvPr/>
        </p:nvSpPr>
        <p:spPr>
          <a:xfrm>
            <a:off x="2209679" y="3596997"/>
            <a:ext cx="1865714" cy="171769"/>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position of </a:t>
            </a:r>
            <a:r>
              <a:rPr lang="en-IN" sz="1400" b="1" dirty="0"/>
              <a:t>Agent 1</a:t>
            </a:r>
            <a:endParaRPr lang="en-IN" sz="1400" dirty="0"/>
          </a:p>
        </p:txBody>
      </p:sp>
      <p:sp>
        <p:nvSpPr>
          <p:cNvPr id="15" name="Rectangle 14">
            <a:extLst>
              <a:ext uri="{FF2B5EF4-FFF2-40B4-BE49-F238E27FC236}">
                <a16:creationId xmlns:a16="http://schemas.microsoft.com/office/drawing/2014/main" id="{AEE4A41A-B7AA-FA1F-BE07-82F236BE4B40}"/>
              </a:ext>
            </a:extLst>
          </p:cNvPr>
          <p:cNvSpPr/>
          <p:nvPr/>
        </p:nvSpPr>
        <p:spPr>
          <a:xfrm rot="16200000">
            <a:off x="-348279" y="2232872"/>
            <a:ext cx="1749861" cy="196767"/>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position of </a:t>
            </a:r>
            <a:r>
              <a:rPr lang="en-IN" sz="1400" b="1" dirty="0"/>
              <a:t>Agent 2</a:t>
            </a:r>
            <a:endParaRPr lang="en-IN" sz="1400" dirty="0"/>
          </a:p>
        </p:txBody>
      </p:sp>
      <p:sp>
        <p:nvSpPr>
          <p:cNvPr id="17" name="Rectangle 16">
            <a:extLst>
              <a:ext uri="{FF2B5EF4-FFF2-40B4-BE49-F238E27FC236}">
                <a16:creationId xmlns:a16="http://schemas.microsoft.com/office/drawing/2014/main" id="{311C2AB1-004D-2931-FF28-F87F12108498}"/>
              </a:ext>
            </a:extLst>
          </p:cNvPr>
          <p:cNvSpPr/>
          <p:nvPr/>
        </p:nvSpPr>
        <p:spPr>
          <a:xfrm rot="16200000">
            <a:off x="5701972" y="4845442"/>
            <a:ext cx="1481818" cy="101038"/>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S</a:t>
            </a:r>
            <a:r>
              <a:rPr lang="en-IN" sz="1200" dirty="0" err="1"/>
              <a:t>patial</a:t>
            </a:r>
            <a:r>
              <a:rPr lang="en-IN" sz="1200" dirty="0"/>
              <a:t> coordinate -2</a:t>
            </a:r>
          </a:p>
        </p:txBody>
      </p:sp>
      <p:sp>
        <p:nvSpPr>
          <p:cNvPr id="19" name="Rectangle 18">
            <a:extLst>
              <a:ext uri="{FF2B5EF4-FFF2-40B4-BE49-F238E27FC236}">
                <a16:creationId xmlns:a16="http://schemas.microsoft.com/office/drawing/2014/main" id="{64CF3DB8-EAC2-BBA7-13A1-DA925692A380}"/>
              </a:ext>
            </a:extLst>
          </p:cNvPr>
          <p:cNvSpPr/>
          <p:nvPr/>
        </p:nvSpPr>
        <p:spPr>
          <a:xfrm>
            <a:off x="8604303" y="6430946"/>
            <a:ext cx="1959150" cy="189776"/>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S</a:t>
            </a:r>
            <a:r>
              <a:rPr lang="en-IN" sz="1200" dirty="0" err="1"/>
              <a:t>patial</a:t>
            </a:r>
            <a:r>
              <a:rPr lang="en-IN" sz="1200" dirty="0"/>
              <a:t> coordinate - 1</a:t>
            </a:r>
          </a:p>
        </p:txBody>
      </p:sp>
      <p:sp>
        <p:nvSpPr>
          <p:cNvPr id="5" name="TextBox 4">
            <a:extLst>
              <a:ext uri="{FF2B5EF4-FFF2-40B4-BE49-F238E27FC236}">
                <a16:creationId xmlns:a16="http://schemas.microsoft.com/office/drawing/2014/main" id="{032D572E-55B2-8183-8029-FF1A2C8D0E40}"/>
              </a:ext>
            </a:extLst>
          </p:cNvPr>
          <p:cNvSpPr txBox="1"/>
          <p:nvPr/>
        </p:nvSpPr>
        <p:spPr>
          <a:xfrm>
            <a:off x="593205" y="5048281"/>
            <a:ext cx="5317601" cy="1200329"/>
          </a:xfrm>
          <a:prstGeom prst="rect">
            <a:avLst/>
          </a:prstGeom>
          <a:noFill/>
        </p:spPr>
        <p:txBody>
          <a:bodyPr wrap="square">
            <a:spAutoFit/>
          </a:bodyPr>
          <a:lstStyle/>
          <a:p>
            <a:pPr marL="342900" lvl="0" indent="-342900">
              <a:buFont typeface="Arial" panose="020B0604020202020204" pitchFamily="34" charset="0"/>
              <a:buChar char="•"/>
            </a:pPr>
            <a:r>
              <a:rPr lang="en-IN" dirty="0"/>
              <a:t>Shows agent density across the simulation area. </a:t>
            </a:r>
          </a:p>
          <a:p>
            <a:pPr marL="342900" lvl="0" indent="-342900">
              <a:buFont typeface="Arial" panose="020B0604020202020204" pitchFamily="34" charset="0"/>
              <a:buChar char="•"/>
            </a:pPr>
            <a:r>
              <a:rPr lang="en-IN" dirty="0"/>
              <a:t>Darker regions indicate higher agent concentration. </a:t>
            </a:r>
          </a:p>
          <a:p>
            <a:pPr marL="342900" lvl="0" indent="-342900">
              <a:buFont typeface="Arial" panose="020B0604020202020204" pitchFamily="34" charset="0"/>
              <a:buChar char="•"/>
            </a:pPr>
            <a:r>
              <a:rPr lang="en-IN" dirty="0"/>
              <a:t>The upper-right area contains the main hotspot. </a:t>
            </a:r>
          </a:p>
          <a:p>
            <a:pPr marL="342900" lvl="0" indent="-342900">
              <a:buFont typeface="Arial" panose="020B0604020202020204" pitchFamily="34" charset="0"/>
              <a:buChar char="•"/>
            </a:pPr>
            <a:r>
              <a:rPr lang="en-IN" dirty="0"/>
              <a:t>Helps identify high-risk zones for survivor agents.</a:t>
            </a:r>
          </a:p>
        </p:txBody>
      </p:sp>
      <p:sp>
        <p:nvSpPr>
          <p:cNvPr id="8" name="TextBox 7">
            <a:extLst>
              <a:ext uri="{FF2B5EF4-FFF2-40B4-BE49-F238E27FC236}">
                <a16:creationId xmlns:a16="http://schemas.microsoft.com/office/drawing/2014/main" id="{A1DD40C4-9E90-F84F-11C1-36DE5D1887A7}"/>
              </a:ext>
            </a:extLst>
          </p:cNvPr>
          <p:cNvSpPr txBox="1"/>
          <p:nvPr/>
        </p:nvSpPr>
        <p:spPr>
          <a:xfrm>
            <a:off x="6886937" y="880600"/>
            <a:ext cx="5246010" cy="2308324"/>
          </a:xfrm>
          <a:prstGeom prst="rect">
            <a:avLst/>
          </a:prstGeom>
          <a:noFill/>
        </p:spPr>
        <p:txBody>
          <a:bodyPr wrap="square">
            <a:spAutoFit/>
          </a:bodyPr>
          <a:lstStyle/>
          <a:p>
            <a:pPr marL="285750" indent="-285750">
              <a:buFont typeface="Arial" panose="020B0604020202020204" pitchFamily="34" charset="0"/>
              <a:buChar char="•"/>
            </a:pPr>
            <a:r>
              <a:rPr lang="en-IN" dirty="0"/>
              <a:t>Shows agent positions across the 100×100 environment.</a:t>
            </a:r>
          </a:p>
          <a:p>
            <a:pPr marL="285750" indent="-285750">
              <a:buFont typeface="Arial" panose="020B0604020202020204" pitchFamily="34" charset="0"/>
              <a:buChar char="•"/>
            </a:pPr>
            <a:r>
              <a:rPr lang="en-IN" dirty="0"/>
              <a:t> Survivors are widely distributed, while zombies cluster near the upper-right area.</a:t>
            </a:r>
          </a:p>
          <a:p>
            <a:pPr marL="285750" indent="-285750">
              <a:buFont typeface="Arial" panose="020B0604020202020204" pitchFamily="34" charset="0"/>
              <a:buChar char="•"/>
            </a:pPr>
            <a:r>
              <a:rPr lang="en-IN" dirty="0"/>
              <a:t> Shows the spatial interaction between different agent types.</a:t>
            </a:r>
          </a:p>
          <a:p>
            <a:pPr marL="285750" indent="-285750">
              <a:buFont typeface="Arial" panose="020B0604020202020204" pitchFamily="34" charset="0"/>
              <a:buChar char="•"/>
            </a:pPr>
            <a:r>
              <a:rPr lang="en-IN" dirty="0"/>
              <a:t> Helps Q-learning agents identify nearby threats and choose actions.</a:t>
            </a:r>
          </a:p>
        </p:txBody>
      </p:sp>
      <p:cxnSp>
        <p:nvCxnSpPr>
          <p:cNvPr id="24" name="Straight Arrow Connector 23">
            <a:extLst>
              <a:ext uri="{FF2B5EF4-FFF2-40B4-BE49-F238E27FC236}">
                <a16:creationId xmlns:a16="http://schemas.microsoft.com/office/drawing/2014/main" id="{CD4399D2-EBFA-0BCA-F984-0334811AE773}"/>
              </a:ext>
            </a:extLst>
          </p:cNvPr>
          <p:cNvCxnSpPr>
            <a:cxnSpLocks/>
          </p:cNvCxnSpPr>
          <p:nvPr/>
        </p:nvCxnSpPr>
        <p:spPr>
          <a:xfrm flipH="1">
            <a:off x="9076100" y="3035143"/>
            <a:ext cx="695343" cy="366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88CF9D7-5AC0-3507-6CD0-CF3291F2642E}"/>
              </a:ext>
            </a:extLst>
          </p:cNvPr>
          <p:cNvCxnSpPr>
            <a:cxnSpLocks/>
            <a:stCxn id="3" idx="2"/>
            <a:endCxn id="5" idx="0"/>
          </p:cNvCxnSpPr>
          <p:nvPr/>
        </p:nvCxnSpPr>
        <p:spPr>
          <a:xfrm>
            <a:off x="3241353" y="4085476"/>
            <a:ext cx="10653" cy="9628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3185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AB5993-E9FE-87A7-F72E-64FEFF51620D}"/>
              </a:ext>
            </a:extLst>
          </p:cNvPr>
          <p:cNvSpPr txBox="1"/>
          <p:nvPr/>
        </p:nvSpPr>
        <p:spPr>
          <a:xfrm>
            <a:off x="4005944" y="44698"/>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Results</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pic>
        <p:nvPicPr>
          <p:cNvPr id="21" name="Picture 20">
            <a:extLst>
              <a:ext uri="{FF2B5EF4-FFF2-40B4-BE49-F238E27FC236}">
                <a16:creationId xmlns:a16="http://schemas.microsoft.com/office/drawing/2014/main" id="{9D95EA63-CA7B-C3B9-582A-833092261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433" y="912014"/>
            <a:ext cx="5626954" cy="3061015"/>
          </a:xfrm>
          <a:prstGeom prst="rect">
            <a:avLst/>
          </a:prstGeom>
        </p:spPr>
      </p:pic>
      <p:pic>
        <p:nvPicPr>
          <p:cNvPr id="23" name="Picture 22">
            <a:extLst>
              <a:ext uri="{FF2B5EF4-FFF2-40B4-BE49-F238E27FC236}">
                <a16:creationId xmlns:a16="http://schemas.microsoft.com/office/drawing/2014/main" id="{B6B5D913-409B-5546-3539-148EDD277A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401965"/>
            <a:ext cx="5960199" cy="3270841"/>
          </a:xfrm>
          <a:prstGeom prst="rect">
            <a:avLst/>
          </a:prstGeom>
        </p:spPr>
      </p:pic>
      <p:sp>
        <p:nvSpPr>
          <p:cNvPr id="25" name="TextBox 24">
            <a:extLst>
              <a:ext uri="{FF2B5EF4-FFF2-40B4-BE49-F238E27FC236}">
                <a16:creationId xmlns:a16="http://schemas.microsoft.com/office/drawing/2014/main" id="{2B2C2799-32EF-9064-EB7B-CA5BF9CEC0CA}"/>
              </a:ext>
            </a:extLst>
          </p:cNvPr>
          <p:cNvSpPr txBox="1"/>
          <p:nvPr/>
        </p:nvSpPr>
        <p:spPr>
          <a:xfrm>
            <a:off x="594438" y="4735766"/>
            <a:ext cx="5082944" cy="1754326"/>
          </a:xfrm>
          <a:prstGeom prst="rect">
            <a:avLst/>
          </a:prstGeom>
          <a:noFill/>
        </p:spPr>
        <p:txBody>
          <a:bodyPr wrap="square">
            <a:spAutoFit/>
          </a:bodyPr>
          <a:lstStyle/>
          <a:p>
            <a:pPr>
              <a:buNone/>
            </a:pPr>
            <a:r>
              <a:rPr lang="en-IN" dirty="0"/>
              <a:t>• Shows the population of each agent type.</a:t>
            </a:r>
          </a:p>
          <a:p>
            <a:pPr>
              <a:buNone/>
            </a:pPr>
            <a:r>
              <a:rPr lang="en-IN" dirty="0"/>
              <a:t>• Zombies have the highest population, followed by Survivors.</a:t>
            </a:r>
          </a:p>
          <a:p>
            <a:pPr>
              <a:buNone/>
            </a:pPr>
            <a:r>
              <a:rPr lang="en-IN" dirty="0"/>
              <a:t>• Scouts and Mutants have smaller populations.</a:t>
            </a:r>
          </a:p>
          <a:p>
            <a:pPr>
              <a:buNone/>
            </a:pPr>
            <a:r>
              <a:rPr lang="en-IN" dirty="0"/>
              <a:t>• Creates a diverse and challenging survival environment.</a:t>
            </a:r>
          </a:p>
        </p:txBody>
      </p:sp>
      <p:sp>
        <p:nvSpPr>
          <p:cNvPr id="27" name="TextBox 26">
            <a:extLst>
              <a:ext uri="{FF2B5EF4-FFF2-40B4-BE49-F238E27FC236}">
                <a16:creationId xmlns:a16="http://schemas.microsoft.com/office/drawing/2014/main" id="{42CE21BE-139D-B982-8238-5D50B659D595}"/>
              </a:ext>
            </a:extLst>
          </p:cNvPr>
          <p:cNvSpPr txBox="1"/>
          <p:nvPr/>
        </p:nvSpPr>
        <p:spPr>
          <a:xfrm>
            <a:off x="7577558" y="726819"/>
            <a:ext cx="4387769" cy="2308324"/>
          </a:xfrm>
          <a:prstGeom prst="rect">
            <a:avLst/>
          </a:prstGeom>
          <a:noFill/>
        </p:spPr>
        <p:txBody>
          <a:bodyPr wrap="square">
            <a:spAutoFit/>
          </a:bodyPr>
          <a:lstStyle/>
          <a:p>
            <a:pPr>
              <a:buNone/>
            </a:pPr>
            <a:r>
              <a:rPr lang="en-IN" dirty="0"/>
              <a:t>• Compares the performance of three strategies.</a:t>
            </a:r>
          </a:p>
          <a:p>
            <a:pPr>
              <a:buNone/>
            </a:pPr>
            <a:r>
              <a:rPr lang="en-IN" dirty="0"/>
              <a:t>• MARL Hybrid Strategy achieves the highest overall performance.</a:t>
            </a:r>
          </a:p>
          <a:p>
            <a:pPr>
              <a:buNone/>
            </a:pPr>
            <a:r>
              <a:rPr lang="en-IN" dirty="0"/>
              <a:t>• GMM improves resource adaptability and threat mitigation.</a:t>
            </a:r>
          </a:p>
          <a:p>
            <a:pPr>
              <a:buNone/>
            </a:pPr>
            <a:r>
              <a:rPr lang="en-IN" dirty="0"/>
              <a:t>• Shows that GMM + MARL provides better survival performance.</a:t>
            </a:r>
          </a:p>
        </p:txBody>
      </p:sp>
      <p:cxnSp>
        <p:nvCxnSpPr>
          <p:cNvPr id="29" name="Straight Arrow Connector 28">
            <a:extLst>
              <a:ext uri="{FF2B5EF4-FFF2-40B4-BE49-F238E27FC236}">
                <a16:creationId xmlns:a16="http://schemas.microsoft.com/office/drawing/2014/main" id="{5BB8C148-D347-0375-8274-3F6E9BBE67A6}"/>
              </a:ext>
            </a:extLst>
          </p:cNvPr>
          <p:cNvCxnSpPr>
            <a:cxnSpLocks/>
            <a:stCxn id="27" idx="2"/>
            <a:endCxn id="23" idx="0"/>
          </p:cNvCxnSpPr>
          <p:nvPr/>
        </p:nvCxnSpPr>
        <p:spPr>
          <a:xfrm flipH="1">
            <a:off x="9076100" y="3035143"/>
            <a:ext cx="695343" cy="366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543A089-702F-0F05-D84F-00B536CE7450}"/>
              </a:ext>
            </a:extLst>
          </p:cNvPr>
          <p:cNvCxnSpPr>
            <a:cxnSpLocks/>
            <a:stCxn id="21" idx="2"/>
            <a:endCxn id="25" idx="0"/>
          </p:cNvCxnSpPr>
          <p:nvPr/>
        </p:nvCxnSpPr>
        <p:spPr>
          <a:xfrm>
            <a:off x="3135910" y="3973029"/>
            <a:ext cx="0" cy="762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4317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115C0B-D18E-FC75-B6BC-A29B70DCEAC8}"/>
              </a:ext>
            </a:extLst>
          </p:cNvPr>
          <p:cNvSpPr txBox="1"/>
          <p:nvPr/>
        </p:nvSpPr>
        <p:spPr>
          <a:xfrm>
            <a:off x="4524932" y="44698"/>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Results(dataset)</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289DCDC4-C587-8119-61C1-C892FC8F3B9B}"/>
              </a:ext>
            </a:extLst>
          </p:cNvPr>
          <p:cNvSpPr txBox="1"/>
          <p:nvPr/>
        </p:nvSpPr>
        <p:spPr>
          <a:xfrm>
            <a:off x="223734" y="4117924"/>
            <a:ext cx="5082944" cy="2308324"/>
          </a:xfrm>
          <a:prstGeom prst="rect">
            <a:avLst/>
          </a:prstGeom>
          <a:noFill/>
        </p:spPr>
        <p:txBody>
          <a:bodyPr wrap="square">
            <a:spAutoFit/>
          </a:bodyPr>
          <a:lstStyle/>
          <a:p>
            <a:pPr marL="285750" lvl="0" indent="-285750">
              <a:buFont typeface="Arial" panose="020B0604020202020204" pitchFamily="34" charset="0"/>
              <a:buChar char="•"/>
            </a:pPr>
            <a:r>
              <a:rPr lang="en-IN" dirty="0"/>
              <a:t>The four agent types are located around the </a:t>
            </a:r>
            <a:r>
              <a:rPr lang="en-IN" dirty="0" err="1"/>
              <a:t>center</a:t>
            </a:r>
            <a:r>
              <a:rPr lang="en-IN" dirty="0"/>
              <a:t> of the 100×100 environment. </a:t>
            </a:r>
          </a:p>
          <a:p>
            <a:pPr marL="285750" lvl="0" indent="-285750">
              <a:buFont typeface="Arial" panose="020B0604020202020204" pitchFamily="34" charset="0"/>
              <a:buChar char="•"/>
            </a:pPr>
            <a:r>
              <a:rPr lang="en-IN" dirty="0"/>
              <a:t>Zombie has the highest average X-coordinate at 51.70, while Mutant has the lowest at 47.97. </a:t>
            </a:r>
          </a:p>
          <a:p>
            <a:pPr marL="285750" lvl="0" indent="-285750">
              <a:buFont typeface="Arial" panose="020B0604020202020204" pitchFamily="34" charset="0"/>
              <a:buChar char="•"/>
            </a:pPr>
            <a:r>
              <a:rPr lang="en-IN" dirty="0"/>
              <a:t>Mutant has the highest average Y-coordinate at 52.13, while Zombie has 49.96. </a:t>
            </a:r>
          </a:p>
          <a:p>
            <a:pPr marL="285750" lvl="0" indent="-285750">
              <a:buFont typeface="Arial" panose="020B0604020202020204" pitchFamily="34" charset="0"/>
              <a:buChar char="•"/>
            </a:pPr>
            <a:r>
              <a:rPr lang="en-IN" dirty="0"/>
              <a:t>The close coordinates indicate that the agent groups spatially overlap and can interact. </a:t>
            </a:r>
          </a:p>
        </p:txBody>
      </p:sp>
      <p:sp>
        <p:nvSpPr>
          <p:cNvPr id="6" name="TextBox 5">
            <a:extLst>
              <a:ext uri="{FF2B5EF4-FFF2-40B4-BE49-F238E27FC236}">
                <a16:creationId xmlns:a16="http://schemas.microsoft.com/office/drawing/2014/main" id="{4EF3A6D7-5461-942C-217E-D6FB4BC967A8}"/>
              </a:ext>
            </a:extLst>
          </p:cNvPr>
          <p:cNvSpPr txBox="1"/>
          <p:nvPr/>
        </p:nvSpPr>
        <p:spPr>
          <a:xfrm>
            <a:off x="6556298" y="887459"/>
            <a:ext cx="5606741" cy="2308324"/>
          </a:xfrm>
          <a:prstGeom prst="rect">
            <a:avLst/>
          </a:prstGeom>
          <a:noFill/>
        </p:spPr>
        <p:txBody>
          <a:bodyPr wrap="square">
            <a:spAutoFit/>
          </a:bodyPr>
          <a:lstStyle/>
          <a:p>
            <a:pPr marL="285750" lvl="0" indent="-285750">
              <a:buFont typeface="Arial" panose="020B0604020202020204" pitchFamily="34" charset="0"/>
              <a:buChar char="•"/>
            </a:pPr>
            <a:r>
              <a:rPr lang="en-IN" dirty="0"/>
              <a:t>Mutants have the highest survival probability (0.35) and highest energy (81.72). </a:t>
            </a:r>
          </a:p>
          <a:p>
            <a:pPr marL="285750" lvl="0" indent="-285750">
              <a:buFont typeface="Arial" panose="020B0604020202020204" pitchFamily="34" charset="0"/>
              <a:buChar char="•"/>
            </a:pPr>
            <a:r>
              <a:rPr lang="en-IN" dirty="0"/>
              <a:t>Zombies have the highest infection risk (0.67) and high health (76.80). </a:t>
            </a:r>
          </a:p>
          <a:p>
            <a:pPr marL="285750" lvl="0" indent="-285750">
              <a:buFont typeface="Arial" panose="020B0604020202020204" pitchFamily="34" charset="0"/>
              <a:buChar char="•"/>
            </a:pPr>
            <a:r>
              <a:rPr lang="en-IN" dirty="0"/>
              <a:t>Survivors have the lowest survival probability (0.27) and energy (57.22). </a:t>
            </a:r>
          </a:p>
          <a:p>
            <a:pPr marL="285750" lvl="0" indent="-285750">
              <a:buFont typeface="Arial" panose="020B0604020202020204" pitchFamily="34" charset="0"/>
              <a:buChar char="•"/>
            </a:pPr>
            <a:r>
              <a:rPr lang="en-IN" dirty="0"/>
              <a:t>The results show that agent type strongly influences health, energy, survival, and infection risk.</a:t>
            </a:r>
          </a:p>
        </p:txBody>
      </p:sp>
      <p:cxnSp>
        <p:nvCxnSpPr>
          <p:cNvPr id="7" name="Straight Arrow Connector 6">
            <a:extLst>
              <a:ext uri="{FF2B5EF4-FFF2-40B4-BE49-F238E27FC236}">
                <a16:creationId xmlns:a16="http://schemas.microsoft.com/office/drawing/2014/main" id="{06EB6934-1C35-E39C-8BCC-817DB52D1641}"/>
              </a:ext>
            </a:extLst>
          </p:cNvPr>
          <p:cNvCxnSpPr>
            <a:cxnSpLocks/>
            <a:stCxn id="6" idx="2"/>
            <a:endCxn id="16" idx="0"/>
          </p:cNvCxnSpPr>
          <p:nvPr/>
        </p:nvCxnSpPr>
        <p:spPr>
          <a:xfrm flipH="1">
            <a:off x="9066593" y="3195783"/>
            <a:ext cx="293076" cy="760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E519903-7D6A-D937-A651-05607FC059A2}"/>
              </a:ext>
            </a:extLst>
          </p:cNvPr>
          <p:cNvCxnSpPr>
            <a:cxnSpLocks/>
            <a:stCxn id="10" idx="2"/>
            <a:endCxn id="5" idx="0"/>
          </p:cNvCxnSpPr>
          <p:nvPr/>
        </p:nvCxnSpPr>
        <p:spPr>
          <a:xfrm flipH="1">
            <a:off x="2765206" y="3429000"/>
            <a:ext cx="360202" cy="688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1D74307-D0E3-C62A-5816-D3067754B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037" y="1104699"/>
            <a:ext cx="5606741" cy="2324301"/>
          </a:xfrm>
          <a:prstGeom prst="rect">
            <a:avLst/>
          </a:prstGeom>
        </p:spPr>
      </p:pic>
      <p:pic>
        <p:nvPicPr>
          <p:cNvPr id="16" name="Picture 15">
            <a:extLst>
              <a:ext uri="{FF2B5EF4-FFF2-40B4-BE49-F238E27FC236}">
                <a16:creationId xmlns:a16="http://schemas.microsoft.com/office/drawing/2014/main" id="{AE17FC36-34CA-49BB-AE10-8DAA5C453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9582" y="3955983"/>
            <a:ext cx="5734021" cy="2857880"/>
          </a:xfrm>
          <a:prstGeom prst="rect">
            <a:avLst/>
          </a:prstGeom>
        </p:spPr>
      </p:pic>
    </p:spTree>
    <p:extLst>
      <p:ext uri="{BB962C8B-B14F-4D97-AF65-F5344CB8AC3E}">
        <p14:creationId xmlns:p14="http://schemas.microsoft.com/office/powerpoint/2010/main" val="605192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9F213-C4AF-BE8B-FE04-B1FC84E067B0}"/>
              </a:ext>
            </a:extLst>
          </p:cNvPr>
          <p:cNvSpPr txBox="1"/>
          <p:nvPr/>
        </p:nvSpPr>
        <p:spPr>
          <a:xfrm>
            <a:off x="4005944" y="44698"/>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Results</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5101AD1E-B00C-9244-2C05-453A523FB21F}"/>
              </a:ext>
            </a:extLst>
          </p:cNvPr>
          <p:cNvSpPr txBox="1"/>
          <p:nvPr/>
        </p:nvSpPr>
        <p:spPr>
          <a:xfrm>
            <a:off x="6937094" y="2959483"/>
            <a:ext cx="5082944" cy="3139321"/>
          </a:xfrm>
          <a:prstGeom prst="rect">
            <a:avLst/>
          </a:prstGeom>
          <a:noFill/>
        </p:spPr>
        <p:txBody>
          <a:bodyPr wrap="square">
            <a:spAutoFit/>
          </a:bodyPr>
          <a:lstStyle/>
          <a:p>
            <a:pPr marL="285750" lvl="0" indent="-285750">
              <a:buFont typeface="Arial" panose="020B0604020202020204" pitchFamily="34" charset="0"/>
              <a:buChar char="•"/>
            </a:pPr>
            <a:r>
              <a:rPr lang="en-IN" dirty="0"/>
              <a:t>The graph shows a negative relationship between infection risk and survival probability. </a:t>
            </a:r>
          </a:p>
          <a:p>
            <a:pPr marL="285750" lvl="0" indent="-285750">
              <a:buFont typeface="Arial" panose="020B0604020202020204" pitchFamily="34" charset="0"/>
              <a:buChar char="•"/>
            </a:pPr>
            <a:r>
              <a:rPr lang="en-IN" dirty="0"/>
              <a:t>At lower infection-risk scores, agents generally have a higher probability of survival. </a:t>
            </a:r>
          </a:p>
          <a:p>
            <a:pPr marL="285750" lvl="0" indent="-285750">
              <a:buFont typeface="Arial" panose="020B0604020202020204" pitchFamily="34" charset="0"/>
              <a:buChar char="•"/>
            </a:pPr>
            <a:r>
              <a:rPr lang="en-IN" dirty="0"/>
              <a:t>As infection risk increases toward 0.8–1.0, survival probability generally decreases toward 0.0–0.2. </a:t>
            </a:r>
          </a:p>
          <a:p>
            <a:pPr marL="285750" lvl="0" indent="-285750">
              <a:buFont typeface="Arial" panose="020B0604020202020204" pitchFamily="34" charset="0"/>
              <a:buChar char="•"/>
            </a:pPr>
            <a:r>
              <a:rPr lang="en-IN" dirty="0"/>
              <a:t>The trend demonstrates that higher infection risk reduces survival chances, providing an important factor for adaptive decision-making in the simulation.</a:t>
            </a:r>
          </a:p>
        </p:txBody>
      </p:sp>
      <p:cxnSp>
        <p:nvCxnSpPr>
          <p:cNvPr id="8" name="Straight Arrow Connector 7">
            <a:extLst>
              <a:ext uri="{FF2B5EF4-FFF2-40B4-BE49-F238E27FC236}">
                <a16:creationId xmlns:a16="http://schemas.microsoft.com/office/drawing/2014/main" id="{1FF29559-14A1-D285-FFDD-BD9F9FF94146}"/>
              </a:ext>
            </a:extLst>
          </p:cNvPr>
          <p:cNvCxnSpPr>
            <a:cxnSpLocks/>
            <a:stCxn id="13" idx="3"/>
            <a:endCxn id="5" idx="1"/>
          </p:cNvCxnSpPr>
          <p:nvPr/>
        </p:nvCxnSpPr>
        <p:spPr>
          <a:xfrm>
            <a:off x="6109780" y="2959483"/>
            <a:ext cx="827314" cy="1569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E141CAEA-BD14-8355-7AB2-2EAF4947E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52" y="906055"/>
            <a:ext cx="6039228" cy="4106856"/>
          </a:xfrm>
          <a:prstGeom prst="rect">
            <a:avLst/>
          </a:prstGeom>
        </p:spPr>
      </p:pic>
    </p:spTree>
    <p:extLst>
      <p:ext uri="{BB962C8B-B14F-4D97-AF65-F5344CB8AC3E}">
        <p14:creationId xmlns:p14="http://schemas.microsoft.com/office/powerpoint/2010/main" val="1515035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DB5F60F9-6495-2A3A-2138-5BF6443D6A10}"/>
              </a:ext>
            </a:extLst>
          </p:cNvPr>
          <p:cNvSpPr>
            <a:spLocks noChangeArrowheads="1"/>
          </p:cNvSpPr>
          <p:nvPr/>
        </p:nvSpPr>
        <p:spPr bwMode="auto">
          <a:xfrm>
            <a:off x="88447" y="1363563"/>
            <a:ext cx="12015106"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nSpc>
                <a:spcPct val="150000"/>
              </a:lnSpc>
              <a:buFont typeface="Arial" panose="020B0604020202020204" pitchFamily="34" charset="0"/>
              <a:buChar char="•"/>
            </a:pPr>
            <a:r>
              <a:rPr lang="en-IN" sz="1600" dirty="0">
                <a:latin typeface="Cambria" panose="02040503050406030204" pitchFamily="18" charset="0"/>
                <a:ea typeface="Cambria" panose="02040503050406030204" pitchFamily="18" charset="0"/>
              </a:rPr>
              <a:t>R² value of </a:t>
            </a:r>
            <a:r>
              <a:rPr lang="en-IN" sz="1600" b="1" dirty="0">
                <a:latin typeface="Cambria" panose="02040503050406030204" pitchFamily="18" charset="0"/>
                <a:ea typeface="Cambria" panose="02040503050406030204" pitchFamily="18" charset="0"/>
              </a:rPr>
              <a:t>0.87</a:t>
            </a:r>
            <a:r>
              <a:rPr lang="en-IN" sz="1600" dirty="0">
                <a:latin typeface="Cambria" panose="02040503050406030204" pitchFamily="18" charset="0"/>
                <a:ea typeface="Cambria" panose="02040503050406030204" pitchFamily="18" charset="0"/>
              </a:rPr>
              <a:t> shows the model explains most of the variability in average reward based on training episodes, indicating a strong learning trend.</a:t>
            </a:r>
          </a:p>
          <a:p>
            <a:pPr marL="285750" indent="-285750">
              <a:lnSpc>
                <a:spcPct val="150000"/>
              </a:lnSpc>
              <a:buFont typeface="Arial" panose="020B0604020202020204" pitchFamily="34" charset="0"/>
              <a:buChar char="•"/>
            </a:pPr>
            <a:r>
              <a:rPr lang="en-IN" sz="1600" dirty="0">
                <a:latin typeface="Cambria" panose="02040503050406030204" pitchFamily="18" charset="0"/>
                <a:ea typeface="Cambria" panose="02040503050406030204" pitchFamily="18" charset="0"/>
              </a:rPr>
              <a:t>Paired t-test result of t = </a:t>
            </a:r>
            <a:r>
              <a:rPr lang="en-IN" sz="1600" b="1" dirty="0">
                <a:latin typeface="Cambria" panose="02040503050406030204" pitchFamily="18" charset="0"/>
                <a:ea typeface="Cambria" panose="02040503050406030204" pitchFamily="18" charset="0"/>
              </a:rPr>
              <a:t>9.42</a:t>
            </a:r>
            <a:r>
              <a:rPr lang="en-IN" sz="1600" dirty="0">
                <a:latin typeface="Cambria" panose="02040503050406030204" pitchFamily="18" charset="0"/>
                <a:ea typeface="Cambria" panose="02040503050406030204" pitchFamily="18" charset="0"/>
              </a:rPr>
              <a:t> with p &lt; </a:t>
            </a:r>
            <a:r>
              <a:rPr lang="en-IN" sz="1600" b="1" dirty="0">
                <a:latin typeface="Cambria" panose="02040503050406030204" pitchFamily="18" charset="0"/>
                <a:ea typeface="Cambria" panose="02040503050406030204" pitchFamily="18" charset="0"/>
              </a:rPr>
              <a:t>0.001</a:t>
            </a:r>
            <a:r>
              <a:rPr lang="en-IN" sz="1600" dirty="0">
                <a:latin typeface="Cambria" panose="02040503050406030204" pitchFamily="18" charset="0"/>
                <a:ea typeface="Cambria" panose="02040503050406030204" pitchFamily="18" charset="0"/>
              </a:rPr>
              <a:t> confirms a significant difference between baseline and RL-based agent performance.</a:t>
            </a:r>
          </a:p>
          <a:p>
            <a:pPr marL="285750" indent="-285750">
              <a:lnSpc>
                <a:spcPct val="150000"/>
              </a:lnSpc>
              <a:buFont typeface="Arial" panose="020B0604020202020204" pitchFamily="34" charset="0"/>
              <a:buChar char="•"/>
            </a:pPr>
            <a:r>
              <a:rPr lang="en-IN" sz="1600" dirty="0">
                <a:latin typeface="Cambria" panose="02040503050406030204" pitchFamily="18" charset="0"/>
                <a:ea typeface="Cambria" panose="02040503050406030204" pitchFamily="18" charset="0"/>
              </a:rPr>
              <a:t>Mean difference in survival rate between baseline and proposed agents is </a:t>
            </a:r>
            <a:r>
              <a:rPr lang="en-IN" sz="1600" b="1" dirty="0">
                <a:latin typeface="Cambria" panose="02040503050406030204" pitchFamily="18" charset="0"/>
                <a:ea typeface="Cambria" panose="02040503050406030204" pitchFamily="18" charset="0"/>
              </a:rPr>
              <a:t>18.6%</a:t>
            </a:r>
            <a:r>
              <a:rPr lang="en-IN" sz="1600" dirty="0">
                <a:latin typeface="Cambria" panose="02040503050406030204" pitchFamily="18" charset="0"/>
                <a:ea typeface="Cambria" panose="02040503050406030204" pitchFamily="18" charset="0"/>
              </a:rPr>
              <a:t> with a 95% confidence interval of </a:t>
            </a:r>
            <a:r>
              <a:rPr lang="en-IN" sz="1600" b="1" dirty="0">
                <a:latin typeface="Cambria" panose="02040503050406030204" pitchFamily="18" charset="0"/>
                <a:ea typeface="Cambria" panose="02040503050406030204" pitchFamily="18" charset="0"/>
              </a:rPr>
              <a:t>15.2–22.0%</a:t>
            </a:r>
            <a:r>
              <a:rPr lang="en-IN" sz="1600" dirty="0">
                <a:latin typeface="Cambria" panose="02040503050406030204" pitchFamily="18" charset="0"/>
                <a:ea typeface="Cambria" panose="02040503050406030204" pitchFamily="18" charset="0"/>
              </a:rPr>
              <a:t>.</a:t>
            </a:r>
          </a:p>
          <a:p>
            <a:pPr marL="285750" indent="-285750">
              <a:lnSpc>
                <a:spcPct val="150000"/>
              </a:lnSpc>
              <a:buFont typeface="Arial" panose="020B0604020202020204" pitchFamily="34" charset="0"/>
              <a:buChar char="•"/>
            </a:pPr>
            <a:r>
              <a:rPr lang="en-IN" sz="1600" dirty="0">
                <a:latin typeface="Cambria" panose="02040503050406030204" pitchFamily="18" charset="0"/>
                <a:ea typeface="Cambria" panose="02040503050406030204" pitchFamily="18" charset="0"/>
              </a:rPr>
              <a:t>Pearson's correlation coefficient of </a:t>
            </a:r>
            <a:r>
              <a:rPr lang="en-IN" sz="1600" b="1" dirty="0">
                <a:latin typeface="Cambria" panose="02040503050406030204" pitchFamily="18" charset="0"/>
                <a:ea typeface="Cambria" panose="02040503050406030204" pitchFamily="18" charset="0"/>
              </a:rPr>
              <a:t>0.83</a:t>
            </a:r>
            <a:r>
              <a:rPr lang="en-IN" sz="1600" dirty="0">
                <a:latin typeface="Cambria" panose="02040503050406030204" pitchFamily="18" charset="0"/>
                <a:ea typeface="Cambria" panose="02040503050406030204" pitchFamily="18" charset="0"/>
              </a:rPr>
              <a:t> indicates a strong positive relationship between training episodes and average reward.</a:t>
            </a:r>
          </a:p>
          <a:p>
            <a:pPr marL="285750" indent="-285750">
              <a:lnSpc>
                <a:spcPct val="150000"/>
              </a:lnSpc>
              <a:buFont typeface="Arial" panose="020B0604020202020204" pitchFamily="34" charset="0"/>
              <a:buChar char="•"/>
            </a:pPr>
            <a:r>
              <a:rPr lang="en-IN" sz="1600" dirty="0">
                <a:latin typeface="Cambria" panose="02040503050406030204" pitchFamily="18" charset="0"/>
                <a:ea typeface="Cambria" panose="02040503050406030204" pitchFamily="18" charset="0"/>
              </a:rPr>
              <a:t>95% confidence interval for the reward-episode correlation is between </a:t>
            </a:r>
            <a:r>
              <a:rPr lang="en-IN" sz="1600" b="1" dirty="0">
                <a:latin typeface="Cambria" panose="02040503050406030204" pitchFamily="18" charset="0"/>
                <a:ea typeface="Cambria" panose="02040503050406030204" pitchFamily="18" charset="0"/>
              </a:rPr>
              <a:t>0.74</a:t>
            </a:r>
            <a:r>
              <a:rPr lang="en-IN" sz="1600" dirty="0">
                <a:latin typeface="Cambria" panose="02040503050406030204" pitchFamily="18" charset="0"/>
                <a:ea typeface="Cambria" panose="02040503050406030204" pitchFamily="18" charset="0"/>
              </a:rPr>
              <a:t> and </a:t>
            </a:r>
            <a:r>
              <a:rPr lang="en-IN" sz="1600" b="1" dirty="0">
                <a:latin typeface="Cambria" panose="02040503050406030204" pitchFamily="18" charset="0"/>
                <a:ea typeface="Cambria" panose="02040503050406030204" pitchFamily="18" charset="0"/>
              </a:rPr>
              <a:t>0.89</a:t>
            </a:r>
            <a:r>
              <a:rPr lang="en-IN" sz="1600" dirty="0">
                <a:latin typeface="Cambria" panose="02040503050406030204" pitchFamily="18" charset="0"/>
                <a:ea typeface="Cambria" panose="02040503050406030204" pitchFamily="18" charset="0"/>
              </a:rPr>
              <a:t>, reinforcing the reliability of the relationship.</a:t>
            </a:r>
          </a:p>
          <a:p>
            <a:pPr marL="285750" indent="-285750">
              <a:lnSpc>
                <a:spcPct val="150000"/>
              </a:lnSpc>
              <a:buFont typeface="Arial" panose="020B0604020202020204" pitchFamily="34" charset="0"/>
              <a:buChar char="•"/>
            </a:pPr>
            <a:r>
              <a:rPr lang="en-IN" sz="1600" dirty="0">
                <a:latin typeface="Cambria" panose="02040503050406030204" pitchFamily="18" charset="0"/>
                <a:ea typeface="Cambria" panose="02040503050406030204" pitchFamily="18" charset="0"/>
              </a:rPr>
              <a:t>Kruskal–Wallis test statistic of </a:t>
            </a:r>
            <a:r>
              <a:rPr lang="en-IN" sz="1600" b="1" dirty="0">
                <a:latin typeface="Cambria" panose="02040503050406030204" pitchFamily="18" charset="0"/>
                <a:ea typeface="Cambria" panose="02040503050406030204" pitchFamily="18" charset="0"/>
              </a:rPr>
              <a:t>41.27</a:t>
            </a:r>
            <a:r>
              <a:rPr lang="en-IN" sz="1600" dirty="0">
                <a:latin typeface="Cambria" panose="02040503050406030204" pitchFamily="18" charset="0"/>
                <a:ea typeface="Cambria" panose="02040503050406030204" pitchFamily="18" charset="0"/>
              </a:rPr>
              <a:t> with p = </a:t>
            </a:r>
            <a:r>
              <a:rPr lang="en-IN" sz="1600" b="1" dirty="0">
                <a:latin typeface="Cambria" panose="02040503050406030204" pitchFamily="18" charset="0"/>
                <a:ea typeface="Cambria" panose="02040503050406030204" pitchFamily="18" charset="0"/>
              </a:rPr>
              <a:t>0.002</a:t>
            </a:r>
            <a:r>
              <a:rPr lang="en-IN" sz="1600" dirty="0">
                <a:latin typeface="Cambria" panose="02040503050406030204" pitchFamily="18" charset="0"/>
                <a:ea typeface="Cambria" panose="02040503050406030204" pitchFamily="18" charset="0"/>
              </a:rPr>
              <a:t> shows survival rate varies significantly across simulation runs.</a:t>
            </a:r>
          </a:p>
          <a:p>
            <a:pPr marL="285750" indent="-285750">
              <a:lnSpc>
                <a:spcPct val="150000"/>
              </a:lnSpc>
              <a:buFont typeface="Arial" panose="020B0604020202020204" pitchFamily="34" charset="0"/>
              <a:buChar char="•"/>
            </a:pPr>
            <a:r>
              <a:rPr lang="en-IN" sz="1600" dirty="0">
                <a:latin typeface="Cambria" panose="02040503050406030204" pitchFamily="18" charset="0"/>
                <a:ea typeface="Cambria" panose="02040503050406030204" pitchFamily="18" charset="0"/>
              </a:rPr>
              <a:t>Heatmap analysis of agent interaction data reveals </a:t>
            </a:r>
            <a:r>
              <a:rPr lang="en-IN" sz="1600" b="1" dirty="0">
                <a:latin typeface="Cambria" panose="02040503050406030204" pitchFamily="18" charset="0"/>
                <a:ea typeface="Cambria" panose="02040503050406030204" pitchFamily="18" charset="0"/>
              </a:rPr>
              <a:t>moderate</a:t>
            </a:r>
            <a:r>
              <a:rPr lang="en-IN" sz="1600" dirty="0">
                <a:latin typeface="Cambria" panose="02040503050406030204" pitchFamily="18" charset="0"/>
                <a:ea typeface="Cambria" panose="02040503050406030204" pitchFamily="18" charset="0"/>
              </a:rPr>
              <a:t> variability, capturing the complexity of multi-agent survival dynamics.</a:t>
            </a:r>
          </a:p>
          <a:p>
            <a:pPr marL="285750" indent="-285750">
              <a:lnSpc>
                <a:spcPct val="150000"/>
              </a:lnSpc>
              <a:buFont typeface="Arial" panose="020B0604020202020204" pitchFamily="34" charset="0"/>
              <a:buChar char="•"/>
            </a:pPr>
            <a:r>
              <a:rPr lang="en-IN" sz="1600" dirty="0">
                <a:latin typeface="Cambria" panose="02040503050406030204" pitchFamily="18" charset="0"/>
                <a:ea typeface="Cambria" panose="02040503050406030204" pitchFamily="18" charset="0"/>
              </a:rPr>
              <a:t>Reward convergence plots show </a:t>
            </a:r>
            <a:r>
              <a:rPr lang="en-IN" sz="1600" b="1" dirty="0">
                <a:latin typeface="Cambria" panose="02040503050406030204" pitchFamily="18" charset="0"/>
                <a:ea typeface="Cambria" panose="02040503050406030204" pitchFamily="18" charset="0"/>
              </a:rPr>
              <a:t>stabilizing</a:t>
            </a:r>
            <a:r>
              <a:rPr lang="en-IN" sz="1600" dirty="0">
                <a:latin typeface="Cambria" panose="02040503050406030204" pitchFamily="18" charset="0"/>
                <a:ea typeface="Cambria" panose="02040503050406030204" pitchFamily="18" charset="0"/>
              </a:rPr>
              <a:t> trends across training episodes, indicating </a:t>
            </a:r>
            <a:r>
              <a:rPr lang="en-IN" sz="1600" b="1" dirty="0">
                <a:latin typeface="Cambria" panose="02040503050406030204" pitchFamily="18" charset="0"/>
                <a:ea typeface="Cambria" panose="02040503050406030204" pitchFamily="18" charset="0"/>
              </a:rPr>
              <a:t>reliable</a:t>
            </a:r>
            <a:r>
              <a:rPr lang="en-IN" sz="1600" dirty="0">
                <a:latin typeface="Cambria" panose="02040503050406030204" pitchFamily="18" charset="0"/>
                <a:ea typeface="Cambria" panose="02040503050406030204" pitchFamily="18" charset="0"/>
              </a:rPr>
              <a:t> policy learning.</a:t>
            </a:r>
          </a:p>
          <a:p>
            <a:pPr marL="285750" indent="-285750">
              <a:lnSpc>
                <a:spcPct val="150000"/>
              </a:lnSpc>
              <a:buFont typeface="Arial" panose="020B0604020202020204" pitchFamily="34" charset="0"/>
              <a:buChar char="•"/>
            </a:pPr>
            <a:r>
              <a:rPr lang="en-IN" sz="1600" dirty="0">
                <a:latin typeface="Cambria" panose="02040503050406030204" pitchFamily="18" charset="0"/>
                <a:ea typeface="Cambria" panose="02040503050406030204" pitchFamily="18" charset="0"/>
              </a:rPr>
              <a:t>Evolution plots show steady improvement in survival rate over training episodes, confirming effective policy convergence.</a:t>
            </a:r>
          </a:p>
          <a:p>
            <a:pPr marL="285750" indent="-285750">
              <a:lnSpc>
                <a:spcPct val="150000"/>
              </a:lnSpc>
              <a:buFont typeface="Arial" panose="020B0604020202020204" pitchFamily="34" charset="0"/>
              <a:buChar char="•"/>
            </a:pPr>
            <a:r>
              <a:rPr lang="en-IN" sz="1600" dirty="0">
                <a:latin typeface="Cambria" panose="02040503050406030204" pitchFamily="18" charset="0"/>
                <a:ea typeface="Cambria" panose="02040503050406030204" pitchFamily="18" charset="0"/>
              </a:rPr>
              <a:t>RL-based agents consistently outperform rule-based baseline agents, showing a measurable improvement in survival and adaptability.</a:t>
            </a:r>
          </a:p>
        </p:txBody>
      </p:sp>
      <p:sp>
        <p:nvSpPr>
          <p:cNvPr id="4" name="TextBox 3">
            <a:extLst>
              <a:ext uri="{FF2B5EF4-FFF2-40B4-BE49-F238E27FC236}">
                <a16:creationId xmlns:a16="http://schemas.microsoft.com/office/drawing/2014/main" id="{F77C8A19-2DEA-EB5E-7651-2AB6EC3AE67D}"/>
              </a:ext>
            </a:extLst>
          </p:cNvPr>
          <p:cNvSpPr txBox="1"/>
          <p:nvPr/>
        </p:nvSpPr>
        <p:spPr>
          <a:xfrm>
            <a:off x="3995058" y="193815"/>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Results</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04057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0819BD9-72F4-9FB7-BCB9-63F826843D84}"/>
              </a:ext>
            </a:extLst>
          </p:cNvPr>
          <p:cNvGraphicFramePr>
            <a:graphicFrameLocks noGrp="1"/>
          </p:cNvGraphicFramePr>
          <p:nvPr>
            <p:extLst>
              <p:ext uri="{D42A27DB-BD31-4B8C-83A1-F6EECF244321}">
                <p14:modId xmlns:p14="http://schemas.microsoft.com/office/powerpoint/2010/main" val="182605072"/>
              </p:ext>
            </p:extLst>
          </p:nvPr>
        </p:nvGraphicFramePr>
        <p:xfrm>
          <a:off x="1995715" y="2940565"/>
          <a:ext cx="8305800" cy="1688533"/>
        </p:xfrm>
        <a:graphic>
          <a:graphicData uri="http://schemas.openxmlformats.org/drawingml/2006/table">
            <a:tbl>
              <a:tblPr firstRow="1" firstCol="1" bandRow="1"/>
              <a:tblGrid>
                <a:gridCol w="1906627">
                  <a:extLst>
                    <a:ext uri="{9D8B030D-6E8A-4147-A177-3AD203B41FA5}">
                      <a16:colId xmlns:a16="http://schemas.microsoft.com/office/drawing/2014/main" val="1455225318"/>
                    </a:ext>
                  </a:extLst>
                </a:gridCol>
                <a:gridCol w="2234744">
                  <a:extLst>
                    <a:ext uri="{9D8B030D-6E8A-4147-A177-3AD203B41FA5}">
                      <a16:colId xmlns:a16="http://schemas.microsoft.com/office/drawing/2014/main" val="3247636162"/>
                    </a:ext>
                  </a:extLst>
                </a:gridCol>
                <a:gridCol w="4164429">
                  <a:extLst>
                    <a:ext uri="{9D8B030D-6E8A-4147-A177-3AD203B41FA5}">
                      <a16:colId xmlns:a16="http://schemas.microsoft.com/office/drawing/2014/main" val="2693985429"/>
                    </a:ext>
                  </a:extLst>
                </a:gridCol>
              </a:tblGrid>
              <a:tr h="344873">
                <a:tc>
                  <a:txBody>
                    <a:bodyPr/>
                    <a:lstStyle/>
                    <a:p>
                      <a:pPr marL="0" marR="0" algn="l">
                        <a:buNone/>
                      </a:pPr>
                      <a:r>
                        <a:rPr lang="en-US" sz="1400" b="1" kern="100">
                          <a:effectLst/>
                          <a:latin typeface="Cambria" panose="02040503050406030204" pitchFamily="18" charset="0"/>
                          <a:ea typeface="Cambria" panose="02040503050406030204" pitchFamily="18" charset="0"/>
                          <a:cs typeface="Latha" panose="020B0604020202020204" pitchFamily="34" charset="0"/>
                        </a:rPr>
                        <a:t>Simulation Design</a:t>
                      </a:r>
                      <a:endParaRPr lang="en-IN" sz="1400" b="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b="1" kern="100">
                          <a:effectLst/>
                          <a:latin typeface="Cambria" panose="02040503050406030204" pitchFamily="18" charset="0"/>
                          <a:ea typeface="Cambria" panose="02040503050406030204" pitchFamily="18" charset="0"/>
                          <a:cs typeface="Latha" panose="020B0604020202020204" pitchFamily="34" charset="0"/>
                        </a:rPr>
                        <a:t>Reinforcement Learning</a:t>
                      </a:r>
                      <a:endParaRPr lang="en-IN" sz="1400" b="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b="1" kern="100">
                          <a:effectLst/>
                          <a:latin typeface="Cambria" panose="02040503050406030204" pitchFamily="18" charset="0"/>
                          <a:ea typeface="Cambria" panose="02040503050406030204" pitchFamily="18" charset="0"/>
                          <a:cs typeface="Latha" panose="020B0604020202020204" pitchFamily="34" charset="0"/>
                        </a:rPr>
                        <a:t>Equivalent Role in Project Phoenix</a:t>
                      </a:r>
                      <a:endParaRPr lang="en-IN" sz="1400" b="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7175616"/>
                  </a:ext>
                </a:extLst>
              </a:tr>
              <a:tr h="376555">
                <a:tc>
                  <a:txBody>
                    <a:bodyPr/>
                    <a:lstStyle/>
                    <a:p>
                      <a:pPr marL="0" marR="0" algn="just">
                        <a:buNone/>
                      </a:pPr>
                      <a:r>
                        <a:rPr lang="en-US" sz="1400" b="1" i="1" kern="100">
                          <a:effectLst/>
                          <a:latin typeface="Cambria" panose="02040503050406030204" pitchFamily="18" charset="0"/>
                          <a:ea typeface="Cambria" panose="02040503050406030204" pitchFamily="18" charset="0"/>
                          <a:cs typeface="Latha" panose="020B0604020202020204" pitchFamily="34" charset="0"/>
                        </a:rPr>
                        <a:t>Environment Modeling</a:t>
                      </a:r>
                      <a:endParaRPr lang="en-IN" sz="1400" b="1" i="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a:effectLst/>
                          <a:latin typeface="Cambria" panose="02040503050406030204" pitchFamily="18" charset="0"/>
                          <a:ea typeface="Cambria" panose="02040503050406030204" pitchFamily="18" charset="0"/>
                          <a:cs typeface="Latha" panose="020B0604020202020204" pitchFamily="34" charset="0"/>
                        </a:rPr>
                        <a:t>State Representation</a:t>
                      </a:r>
                      <a:endParaRPr lang="en-IN" sz="1400"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dirty="0">
                          <a:effectLst/>
                          <a:latin typeface="Cambria" panose="02040503050406030204" pitchFamily="18" charset="0"/>
                          <a:ea typeface="Cambria" panose="02040503050406030204" pitchFamily="18" charset="0"/>
                          <a:cs typeface="Latha" panose="020B0604020202020204" pitchFamily="34" charset="0"/>
                        </a:rPr>
                        <a:t>Defines what agents perceive and how they interact with the world</a:t>
                      </a:r>
                      <a:endParaRPr lang="en-IN" sz="1400" kern="100" dirty="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7450869"/>
                  </a:ext>
                </a:extLst>
              </a:tr>
              <a:tr h="227965">
                <a:tc>
                  <a:txBody>
                    <a:bodyPr/>
                    <a:lstStyle/>
                    <a:p>
                      <a:pPr marL="0" marR="0" algn="just">
                        <a:buNone/>
                      </a:pPr>
                      <a:r>
                        <a:rPr lang="en-US" sz="1400" b="1" i="1" kern="100">
                          <a:effectLst/>
                          <a:latin typeface="Cambria" panose="02040503050406030204" pitchFamily="18" charset="0"/>
                          <a:ea typeface="Cambria" panose="02040503050406030204" pitchFamily="18" charset="0"/>
                          <a:cs typeface="Latha" panose="020B0604020202020204" pitchFamily="34" charset="0"/>
                        </a:rPr>
                        <a:t>Agent Behavior Rules</a:t>
                      </a:r>
                      <a:endParaRPr lang="en-IN" sz="1400" b="1" i="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dirty="0">
                          <a:effectLst/>
                          <a:latin typeface="Cambria" panose="02040503050406030204" pitchFamily="18" charset="0"/>
                          <a:ea typeface="Cambria" panose="02040503050406030204" pitchFamily="18" charset="0"/>
                          <a:cs typeface="Latha" panose="020B0604020202020204" pitchFamily="34" charset="0"/>
                        </a:rPr>
                        <a:t>Policy (π)</a:t>
                      </a:r>
                      <a:endParaRPr lang="en-IN" sz="1400" kern="100" dirty="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a:effectLst/>
                          <a:latin typeface="Cambria" panose="02040503050406030204" pitchFamily="18" charset="0"/>
                          <a:ea typeface="Cambria" panose="02040503050406030204" pitchFamily="18" charset="0"/>
                          <a:cs typeface="Latha" panose="020B0604020202020204" pitchFamily="34" charset="0"/>
                        </a:rPr>
                        <a:t>Governs how each agent selects actions</a:t>
                      </a:r>
                      <a:endParaRPr lang="en-IN" sz="1400"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8721022"/>
                  </a:ext>
                </a:extLst>
              </a:tr>
              <a:tr h="210820">
                <a:tc>
                  <a:txBody>
                    <a:bodyPr/>
                    <a:lstStyle/>
                    <a:p>
                      <a:pPr marL="0" marR="0" algn="just">
                        <a:buNone/>
                      </a:pPr>
                      <a:r>
                        <a:rPr lang="en-US" sz="1400" b="1" i="1" kern="100">
                          <a:effectLst/>
                          <a:latin typeface="Cambria" panose="02040503050406030204" pitchFamily="18" charset="0"/>
                          <a:ea typeface="Cambria" panose="02040503050406030204" pitchFamily="18" charset="0"/>
                          <a:cs typeface="Latha" panose="020B0604020202020204" pitchFamily="34" charset="0"/>
                        </a:rPr>
                        <a:t>Interaction Events</a:t>
                      </a:r>
                      <a:endParaRPr lang="en-IN" sz="1400" b="1" i="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a:effectLst/>
                          <a:latin typeface="Cambria" panose="02040503050406030204" pitchFamily="18" charset="0"/>
                          <a:ea typeface="Cambria" panose="02040503050406030204" pitchFamily="18" charset="0"/>
                          <a:cs typeface="Latha" panose="020B0604020202020204" pitchFamily="34" charset="0"/>
                        </a:rPr>
                        <a:t>Reward Signals</a:t>
                      </a:r>
                      <a:endParaRPr lang="en-IN" sz="1400"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a:effectLst/>
                          <a:latin typeface="Cambria" panose="02040503050406030204" pitchFamily="18" charset="0"/>
                          <a:ea typeface="Cambria" panose="02040503050406030204" pitchFamily="18" charset="0"/>
                          <a:cs typeface="Latha" panose="020B0604020202020204" pitchFamily="34" charset="0"/>
                        </a:rPr>
                        <a:t>Determines outcomes agents optimize toward</a:t>
                      </a:r>
                      <a:endParaRPr lang="en-IN" sz="1400"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3169168"/>
                  </a:ext>
                </a:extLst>
              </a:tr>
              <a:tr h="205105">
                <a:tc>
                  <a:txBody>
                    <a:bodyPr/>
                    <a:lstStyle/>
                    <a:p>
                      <a:pPr marL="0" marR="0" algn="just">
                        <a:buNone/>
                      </a:pPr>
                      <a:r>
                        <a:rPr lang="en-US" sz="1400" b="1" i="1" kern="100">
                          <a:effectLst/>
                          <a:latin typeface="Cambria" panose="02040503050406030204" pitchFamily="18" charset="0"/>
                          <a:ea typeface="Cambria" panose="02040503050406030204" pitchFamily="18" charset="0"/>
                          <a:cs typeface="Latha" panose="020B0604020202020204" pitchFamily="34" charset="0"/>
                        </a:rPr>
                        <a:t>Data Realism (GMM)</a:t>
                      </a:r>
                      <a:endParaRPr lang="en-IN" sz="1400" b="1" i="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a:effectLst/>
                          <a:latin typeface="Cambria" panose="02040503050406030204" pitchFamily="18" charset="0"/>
                          <a:ea typeface="Cambria" panose="02040503050406030204" pitchFamily="18" charset="0"/>
                          <a:cs typeface="Latha" panose="020B0604020202020204" pitchFamily="34" charset="0"/>
                        </a:rPr>
                        <a:t>Exploration &amp; Adaptation</a:t>
                      </a:r>
                      <a:endParaRPr lang="en-IN" sz="1400"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dirty="0">
                          <a:effectLst/>
                          <a:latin typeface="Cambria" panose="02040503050406030204" pitchFamily="18" charset="0"/>
                          <a:ea typeface="Cambria" panose="02040503050406030204" pitchFamily="18" charset="0"/>
                          <a:cs typeface="Latha" panose="020B0604020202020204" pitchFamily="34" charset="0"/>
                        </a:rPr>
                        <a:t>Balances realistic input data with adaptive learning</a:t>
                      </a:r>
                      <a:endParaRPr lang="en-IN" sz="1400" kern="100" dirty="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0796662"/>
                  </a:ext>
                </a:extLst>
              </a:tr>
              <a:tr h="262255">
                <a:tc>
                  <a:txBody>
                    <a:bodyPr/>
                    <a:lstStyle/>
                    <a:p>
                      <a:pPr marL="0" marR="0" algn="just">
                        <a:buNone/>
                      </a:pPr>
                      <a:r>
                        <a:rPr lang="en-US" sz="1400" b="1" i="1" kern="100">
                          <a:effectLst/>
                          <a:latin typeface="Cambria" panose="02040503050406030204" pitchFamily="18" charset="0"/>
                          <a:ea typeface="Cambria" panose="02040503050406030204" pitchFamily="18" charset="0"/>
                          <a:cs typeface="Latha" panose="020B0604020202020204" pitchFamily="34" charset="0"/>
                        </a:rPr>
                        <a:t>Simulation Runs</a:t>
                      </a:r>
                      <a:endParaRPr lang="en-IN" sz="1400" b="1" i="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a:effectLst/>
                          <a:latin typeface="Cambria" panose="02040503050406030204" pitchFamily="18" charset="0"/>
                          <a:ea typeface="Cambria" panose="02040503050406030204" pitchFamily="18" charset="0"/>
                          <a:cs typeface="Latha" panose="020B0604020202020204" pitchFamily="34" charset="0"/>
                        </a:rPr>
                        <a:t>Training Episodes</a:t>
                      </a:r>
                      <a:endParaRPr lang="en-IN" sz="1400"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dirty="0">
                          <a:effectLst/>
                          <a:latin typeface="Cambria" panose="02040503050406030204" pitchFamily="18" charset="0"/>
                          <a:ea typeface="Cambria" panose="02040503050406030204" pitchFamily="18" charset="0"/>
                          <a:cs typeface="Latha" panose="020B0604020202020204" pitchFamily="34" charset="0"/>
                        </a:rPr>
                        <a:t>Both use repeated iterations to refine outcomes</a:t>
                      </a:r>
                      <a:endParaRPr lang="en-IN" sz="1400" kern="100" dirty="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869158"/>
                  </a:ext>
                </a:extLst>
              </a:tr>
            </a:tbl>
          </a:graphicData>
        </a:graphic>
      </p:graphicFrame>
      <p:sp>
        <p:nvSpPr>
          <p:cNvPr id="8" name="TextBox 7">
            <a:extLst>
              <a:ext uri="{FF2B5EF4-FFF2-40B4-BE49-F238E27FC236}">
                <a16:creationId xmlns:a16="http://schemas.microsoft.com/office/drawing/2014/main" id="{0E206456-3B16-7EF0-E6A9-C95F294247B6}"/>
              </a:ext>
            </a:extLst>
          </p:cNvPr>
          <p:cNvSpPr txBox="1"/>
          <p:nvPr/>
        </p:nvSpPr>
        <p:spPr>
          <a:xfrm>
            <a:off x="2833915" y="2562279"/>
            <a:ext cx="6629400" cy="341632"/>
          </a:xfrm>
          <a:prstGeom prst="rect">
            <a:avLst/>
          </a:prstGeom>
          <a:noFill/>
        </p:spPr>
        <p:txBody>
          <a:bodyPr wrap="square">
            <a:spAutoFit/>
          </a:bodyPr>
          <a:lstStyle/>
          <a:p>
            <a:pPr marR="0" lvl="0" algn="ctr">
              <a:lnSpc>
                <a:spcPct val="90000"/>
              </a:lnSpc>
              <a:spcBef>
                <a:spcPts val="1200"/>
              </a:spcBef>
              <a:spcAft>
                <a:spcPts val="600"/>
              </a:spcAft>
              <a:buSzPts val="800"/>
              <a:tabLst>
                <a:tab pos="685800" algn="l"/>
              </a:tabLst>
            </a:pPr>
            <a:r>
              <a:rPr lang="en-US" b="1" dirty="0">
                <a:solidFill>
                  <a:schemeClr val="accent5">
                    <a:lumMod val="50000"/>
                  </a:schemeClr>
                </a:solidFill>
                <a:effectLst/>
                <a:latin typeface="Cambria" panose="02040503050406030204" pitchFamily="18" charset="0"/>
                <a:ea typeface="Cambria" panose="02040503050406030204" pitchFamily="18" charset="0"/>
              </a:rPr>
              <a:t>Simulation Design vs. Reinforcement Learning Themes</a:t>
            </a:r>
            <a:endParaRPr lang="en-IN" b="1" dirty="0">
              <a:solidFill>
                <a:schemeClr val="accent5">
                  <a:lumMod val="50000"/>
                </a:schemeClr>
              </a:solidFill>
              <a:effectLst/>
              <a:latin typeface="Cambria" panose="02040503050406030204" pitchFamily="18" charset="0"/>
              <a:ea typeface="Cambria" panose="02040503050406030204" pitchFamily="18" charset="0"/>
            </a:endParaRPr>
          </a:p>
        </p:txBody>
      </p:sp>
      <p:graphicFrame>
        <p:nvGraphicFramePr>
          <p:cNvPr id="10" name="Table 9">
            <a:extLst>
              <a:ext uri="{FF2B5EF4-FFF2-40B4-BE49-F238E27FC236}">
                <a16:creationId xmlns:a16="http://schemas.microsoft.com/office/drawing/2014/main" id="{6F258A14-CC23-6CEE-D291-917338717BCC}"/>
              </a:ext>
            </a:extLst>
          </p:cNvPr>
          <p:cNvGraphicFramePr>
            <a:graphicFrameLocks noGrp="1"/>
          </p:cNvGraphicFramePr>
          <p:nvPr>
            <p:extLst>
              <p:ext uri="{D42A27DB-BD31-4B8C-83A1-F6EECF244321}">
                <p14:modId xmlns:p14="http://schemas.microsoft.com/office/powerpoint/2010/main" val="2037780309"/>
              </p:ext>
            </p:extLst>
          </p:nvPr>
        </p:nvGraphicFramePr>
        <p:xfrm>
          <a:off x="3360768" y="5147720"/>
          <a:ext cx="6096000" cy="1645920"/>
        </p:xfrm>
        <a:graphic>
          <a:graphicData uri="http://schemas.openxmlformats.org/drawingml/2006/table">
            <a:tbl>
              <a:tblPr firstRow="1" firstCol="1" bandRow="1"/>
              <a:tblGrid>
                <a:gridCol w="2145689">
                  <a:extLst>
                    <a:ext uri="{9D8B030D-6E8A-4147-A177-3AD203B41FA5}">
                      <a16:colId xmlns:a16="http://schemas.microsoft.com/office/drawing/2014/main" val="1050978491"/>
                    </a:ext>
                  </a:extLst>
                </a:gridCol>
                <a:gridCol w="957651">
                  <a:extLst>
                    <a:ext uri="{9D8B030D-6E8A-4147-A177-3AD203B41FA5}">
                      <a16:colId xmlns:a16="http://schemas.microsoft.com/office/drawing/2014/main" val="3614589576"/>
                    </a:ext>
                  </a:extLst>
                </a:gridCol>
                <a:gridCol w="1077358">
                  <a:extLst>
                    <a:ext uri="{9D8B030D-6E8A-4147-A177-3AD203B41FA5}">
                      <a16:colId xmlns:a16="http://schemas.microsoft.com/office/drawing/2014/main" val="2957386417"/>
                    </a:ext>
                  </a:extLst>
                </a:gridCol>
                <a:gridCol w="957651">
                  <a:extLst>
                    <a:ext uri="{9D8B030D-6E8A-4147-A177-3AD203B41FA5}">
                      <a16:colId xmlns:a16="http://schemas.microsoft.com/office/drawing/2014/main" val="3674938121"/>
                    </a:ext>
                  </a:extLst>
                </a:gridCol>
                <a:gridCol w="957651">
                  <a:extLst>
                    <a:ext uri="{9D8B030D-6E8A-4147-A177-3AD203B41FA5}">
                      <a16:colId xmlns:a16="http://schemas.microsoft.com/office/drawing/2014/main" val="4250925592"/>
                    </a:ext>
                  </a:extLst>
                </a:gridCol>
              </a:tblGrid>
              <a:tr h="250322">
                <a:tc>
                  <a:txBody>
                    <a:bodyPr/>
                    <a:lstStyle/>
                    <a:p>
                      <a:pPr>
                        <a:buNone/>
                      </a:pPr>
                      <a:r>
                        <a:rPr lang="en-IN" sz="1200" b="1" dirty="0"/>
                        <a:t>Variable</a:t>
                      </a:r>
                      <a:endParaRPr lang="en-IN" sz="12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b="1"/>
                        <a:t>Min</a:t>
                      </a:r>
                      <a:endParaRPr lang="en-IN" sz="120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b="1"/>
                        <a:t>Median</a:t>
                      </a:r>
                      <a:endParaRPr lang="en-IN" sz="120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b="1" dirty="0"/>
                        <a:t>Mean</a:t>
                      </a:r>
                      <a:endParaRPr lang="en-IN" sz="12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b="1" dirty="0"/>
                        <a:t>Max</a:t>
                      </a:r>
                      <a:endParaRPr lang="en-IN" sz="12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4533595"/>
                  </a:ext>
                </a:extLst>
              </a:tr>
              <a:tr h="250322">
                <a:tc>
                  <a:txBody>
                    <a:bodyPr/>
                    <a:lstStyle/>
                    <a:p>
                      <a:pPr>
                        <a:buNone/>
                      </a:pPr>
                      <a:r>
                        <a:rPr lang="en-IN" sz="1200" b="1"/>
                        <a:t>Training Episodes</a:t>
                      </a:r>
                      <a:endParaRPr lang="en-IN" sz="120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20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dirty="0"/>
                        <a:t>60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100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200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4848257"/>
                  </a:ext>
                </a:extLst>
              </a:tr>
              <a:tr h="250322">
                <a:tc>
                  <a:txBody>
                    <a:bodyPr/>
                    <a:lstStyle/>
                    <a:p>
                      <a:pPr>
                        <a:buNone/>
                      </a:pPr>
                      <a:r>
                        <a:rPr lang="en-IN" sz="1200" b="1"/>
                        <a:t>Survival Rate (%)</a:t>
                      </a:r>
                      <a:endParaRPr lang="en-IN" sz="120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65.0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dirty="0"/>
                        <a:t>76.5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b="1"/>
                        <a:t>78.6</a:t>
                      </a:r>
                      <a:endParaRPr lang="en-IN" sz="120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84.0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1037767"/>
                  </a:ext>
                </a:extLst>
              </a:tr>
              <a:tr h="250322">
                <a:tc>
                  <a:txBody>
                    <a:bodyPr/>
                    <a:lstStyle/>
                    <a:p>
                      <a:pPr>
                        <a:buNone/>
                      </a:pPr>
                      <a:r>
                        <a:rPr lang="en-IN" sz="1200" b="1"/>
                        <a:t>Average Reward</a:t>
                      </a:r>
                      <a:endParaRPr lang="en-IN" sz="120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18.5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27.8</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b="1" dirty="0"/>
                        <a:t>32.0</a:t>
                      </a:r>
                      <a:endParaRPr lang="en-IN" sz="12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45.6</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9187120"/>
                  </a:ext>
                </a:extLst>
              </a:tr>
              <a:tr h="250322">
                <a:tc>
                  <a:txBody>
                    <a:bodyPr/>
                    <a:lstStyle/>
                    <a:p>
                      <a:pPr>
                        <a:buNone/>
                      </a:pPr>
                      <a:r>
                        <a:rPr lang="en-IN" sz="1200" b="1"/>
                        <a:t>Agents Survived</a:t>
                      </a:r>
                      <a:endParaRPr lang="en-IN" sz="120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33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38</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b="1"/>
                        <a:t>39</a:t>
                      </a:r>
                      <a:endParaRPr lang="en-IN" sz="120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42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8574902"/>
                  </a:ext>
                </a:extLst>
              </a:tr>
              <a:tr h="250322">
                <a:tc>
                  <a:txBody>
                    <a:bodyPr/>
                    <a:lstStyle/>
                    <a:p>
                      <a:pPr>
                        <a:buNone/>
                      </a:pPr>
                      <a:r>
                        <a:rPr lang="en-IN" sz="1200" b="1"/>
                        <a:t>Improvement (%)</a:t>
                      </a:r>
                      <a:endParaRPr lang="en-IN" sz="120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12.5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a:t>22.8</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b="1"/>
                        <a:t>24.7</a:t>
                      </a:r>
                      <a:endParaRPr lang="en-IN" sz="120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200" dirty="0"/>
                        <a:t>29.2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5703810"/>
                  </a:ext>
                </a:extLst>
              </a:tr>
            </a:tbl>
          </a:graphicData>
        </a:graphic>
      </p:graphicFrame>
      <p:sp>
        <p:nvSpPr>
          <p:cNvPr id="12" name="TextBox 11">
            <a:extLst>
              <a:ext uri="{FF2B5EF4-FFF2-40B4-BE49-F238E27FC236}">
                <a16:creationId xmlns:a16="http://schemas.microsoft.com/office/drawing/2014/main" id="{4264D2D6-D0C1-0638-5118-01A6C5E59FCA}"/>
              </a:ext>
            </a:extLst>
          </p:cNvPr>
          <p:cNvSpPr txBox="1"/>
          <p:nvPr/>
        </p:nvSpPr>
        <p:spPr>
          <a:xfrm>
            <a:off x="3225800" y="4736641"/>
            <a:ext cx="6096000" cy="341632"/>
          </a:xfrm>
          <a:prstGeom prst="rect">
            <a:avLst/>
          </a:prstGeom>
          <a:noFill/>
        </p:spPr>
        <p:txBody>
          <a:bodyPr wrap="square">
            <a:spAutoFit/>
          </a:bodyPr>
          <a:lstStyle/>
          <a:p>
            <a:pPr marR="0" lvl="0" algn="ctr">
              <a:lnSpc>
                <a:spcPct val="90000"/>
              </a:lnSpc>
              <a:spcBef>
                <a:spcPts val="1200"/>
              </a:spcBef>
              <a:spcAft>
                <a:spcPts val="600"/>
              </a:spcAft>
              <a:buSzPts val="800"/>
              <a:tabLst>
                <a:tab pos="685800" algn="l"/>
              </a:tabLst>
            </a:pPr>
            <a:r>
              <a:rPr lang="en-US" b="1" dirty="0">
                <a:solidFill>
                  <a:schemeClr val="accent5">
                    <a:lumMod val="50000"/>
                  </a:schemeClr>
                </a:solidFill>
                <a:effectLst/>
                <a:latin typeface="Cambria" panose="02040503050406030204" pitchFamily="18" charset="0"/>
                <a:ea typeface="Cambria" panose="02040503050406030204" pitchFamily="18" charset="0"/>
              </a:rPr>
              <a:t>Sample Simulation Metrics </a:t>
            </a:r>
            <a:endParaRPr lang="en-IN" b="1" dirty="0">
              <a:solidFill>
                <a:schemeClr val="accent5">
                  <a:lumMod val="50000"/>
                </a:schemeClr>
              </a:solidFill>
              <a:effectLst/>
              <a:latin typeface="Cambria" panose="02040503050406030204" pitchFamily="18" charset="0"/>
              <a:ea typeface="Cambria" panose="02040503050406030204" pitchFamily="18" charset="0"/>
            </a:endParaRPr>
          </a:p>
        </p:txBody>
      </p:sp>
      <p:sp>
        <p:nvSpPr>
          <p:cNvPr id="17" name="TextBox 16">
            <a:extLst>
              <a:ext uri="{FF2B5EF4-FFF2-40B4-BE49-F238E27FC236}">
                <a16:creationId xmlns:a16="http://schemas.microsoft.com/office/drawing/2014/main" id="{88F9CD36-2ACA-3B73-BFC8-50478A78BD23}"/>
              </a:ext>
            </a:extLst>
          </p:cNvPr>
          <p:cNvSpPr txBox="1"/>
          <p:nvPr/>
        </p:nvSpPr>
        <p:spPr>
          <a:xfrm>
            <a:off x="667656" y="557820"/>
            <a:ext cx="11669487" cy="2031325"/>
          </a:xfrm>
          <a:prstGeom prst="rect">
            <a:avLst/>
          </a:prstGeom>
          <a:noFill/>
        </p:spPr>
        <p:txBody>
          <a:bodyPr wrap="square">
            <a:spAutoFit/>
          </a:bodyPr>
          <a:lstStyle/>
          <a:p>
            <a:pPr marL="285750" indent="-285750" algn="just">
              <a:buFont typeface="Arial" panose="020B0604020202020204" pitchFamily="34" charset="0"/>
              <a:buChar char="•"/>
            </a:pPr>
            <a:r>
              <a:rPr lang="en-US" sz="1800" kern="0" dirty="0">
                <a:effectLst/>
                <a:latin typeface="Cambria" panose="02040503050406030204" pitchFamily="18" charset="0"/>
                <a:ea typeface="Cambria" panose="02040503050406030204" pitchFamily="18" charset="0"/>
              </a:rPr>
              <a:t>This research explores how classical agent-based simulation and multi-agent reinforcement learning complement each other in modeling complex survival scenarios.</a:t>
            </a:r>
          </a:p>
          <a:p>
            <a:pPr marL="285750" indent="-285750" algn="just">
              <a:buFont typeface="Arial" panose="020B0604020202020204" pitchFamily="34" charset="0"/>
              <a:buChar char="•"/>
            </a:pPr>
            <a:r>
              <a:rPr lang="en-US" sz="1800" kern="0" dirty="0">
                <a:effectLst/>
                <a:latin typeface="Cambria" panose="02040503050406030204" pitchFamily="18" charset="0"/>
                <a:ea typeface="Cambria" panose="02040503050406030204" pitchFamily="18" charset="0"/>
              </a:rPr>
              <a:t>Similar to how synthetic data generation (GMM) improves simulation realism, reinforcement learning improves agent intelligence — together they capture both statistical realism and behavioral adaptability.</a:t>
            </a:r>
          </a:p>
          <a:p>
            <a:pPr marL="285750" indent="-285750" algn="just">
              <a:buFont typeface="Arial" panose="020B0604020202020204" pitchFamily="34" charset="0"/>
              <a:buChar char="•"/>
            </a:pPr>
            <a:r>
              <a:rPr lang="en-US" sz="1800" kern="0" dirty="0">
                <a:effectLst/>
                <a:latin typeface="Cambria" panose="02040503050406030204" pitchFamily="18" charset="0"/>
                <a:ea typeface="Cambria" panose="02040503050406030204" pitchFamily="18" charset="0"/>
              </a:rPr>
              <a:t>While agent-based simulation focuses on environment fidelity, reinforcement learning provides empirical adaptability, together forming an integrated framework for survival modeling.</a:t>
            </a:r>
            <a:endParaRPr lang="en-IN" dirty="0">
              <a:latin typeface="Cambria" panose="02040503050406030204" pitchFamily="18" charset="0"/>
              <a:ea typeface="Cambria" panose="02040503050406030204" pitchFamily="18" charset="0"/>
            </a:endParaRPr>
          </a:p>
        </p:txBody>
      </p:sp>
      <p:sp>
        <p:nvSpPr>
          <p:cNvPr id="18" name="TextBox 17">
            <a:extLst>
              <a:ext uri="{FF2B5EF4-FFF2-40B4-BE49-F238E27FC236}">
                <a16:creationId xmlns:a16="http://schemas.microsoft.com/office/drawing/2014/main" id="{E3B2B53C-31C1-2547-AAB8-DACB58931886}"/>
              </a:ext>
            </a:extLst>
          </p:cNvPr>
          <p:cNvSpPr txBox="1"/>
          <p:nvPr/>
        </p:nvSpPr>
        <p:spPr>
          <a:xfrm>
            <a:off x="4532087" y="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Discussion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11290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AFD269-9BF5-0566-E7AA-D8DB5FC8D2F4}"/>
              </a:ext>
            </a:extLst>
          </p:cNvPr>
          <p:cNvSpPr txBox="1"/>
          <p:nvPr/>
        </p:nvSpPr>
        <p:spPr>
          <a:xfrm>
            <a:off x="4005944" y="-43543"/>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Discussion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graphicFrame>
        <p:nvGraphicFramePr>
          <p:cNvPr id="6" name="Table 5">
            <a:extLst>
              <a:ext uri="{FF2B5EF4-FFF2-40B4-BE49-F238E27FC236}">
                <a16:creationId xmlns:a16="http://schemas.microsoft.com/office/drawing/2014/main" id="{1390D885-103F-5C11-C1AD-9F570F6A7F00}"/>
              </a:ext>
            </a:extLst>
          </p:cNvPr>
          <p:cNvGraphicFramePr>
            <a:graphicFrameLocks noGrp="1"/>
          </p:cNvGraphicFramePr>
          <p:nvPr>
            <p:extLst>
              <p:ext uri="{D42A27DB-BD31-4B8C-83A1-F6EECF244321}">
                <p14:modId xmlns:p14="http://schemas.microsoft.com/office/powerpoint/2010/main" val="2085743196"/>
              </p:ext>
            </p:extLst>
          </p:nvPr>
        </p:nvGraphicFramePr>
        <p:xfrm>
          <a:off x="190499" y="736248"/>
          <a:ext cx="11811000" cy="4132440"/>
        </p:xfrm>
        <a:graphic>
          <a:graphicData uri="http://schemas.openxmlformats.org/drawingml/2006/table">
            <a:tbl>
              <a:tblPr firstRow="1" firstCol="1" bandRow="1">
                <a:tableStyleId>{5940675A-B579-460E-94D1-54222C63F5DA}</a:tableStyleId>
              </a:tblPr>
              <a:tblGrid>
                <a:gridCol w="1306285">
                  <a:extLst>
                    <a:ext uri="{9D8B030D-6E8A-4147-A177-3AD203B41FA5}">
                      <a16:colId xmlns:a16="http://schemas.microsoft.com/office/drawing/2014/main" val="2400134897"/>
                    </a:ext>
                  </a:extLst>
                </a:gridCol>
                <a:gridCol w="4789715">
                  <a:extLst>
                    <a:ext uri="{9D8B030D-6E8A-4147-A177-3AD203B41FA5}">
                      <a16:colId xmlns:a16="http://schemas.microsoft.com/office/drawing/2014/main" val="608325294"/>
                    </a:ext>
                  </a:extLst>
                </a:gridCol>
                <a:gridCol w="5715000">
                  <a:extLst>
                    <a:ext uri="{9D8B030D-6E8A-4147-A177-3AD203B41FA5}">
                      <a16:colId xmlns:a16="http://schemas.microsoft.com/office/drawing/2014/main" val="2570721171"/>
                    </a:ext>
                  </a:extLst>
                </a:gridCol>
              </a:tblGrid>
              <a:tr h="356175">
                <a:tc>
                  <a:txBody>
                    <a:bodyPr/>
                    <a:lstStyle/>
                    <a:p>
                      <a:pPr marL="0" marR="0" algn="l">
                        <a:buNone/>
                      </a:pPr>
                      <a:r>
                        <a:rPr lang="en-US" sz="1800" b="1" kern="100">
                          <a:effectLst/>
                          <a:latin typeface="Cambria" panose="02040503050406030204" pitchFamily="18" charset="0"/>
                          <a:ea typeface="Cambria" panose="02040503050406030204" pitchFamily="18" charset="0"/>
                        </a:rPr>
                        <a:t>Category</a:t>
                      </a:r>
                      <a:endParaRPr lang="en-IN" sz="1800" b="1"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800" b="1" kern="100">
                          <a:effectLst/>
                          <a:latin typeface="Cambria" panose="02040503050406030204" pitchFamily="18" charset="0"/>
                          <a:ea typeface="Cambria" panose="02040503050406030204" pitchFamily="18" charset="0"/>
                        </a:rPr>
                        <a:t>Rule-Based Agents (Baseline)</a:t>
                      </a:r>
                      <a:endParaRPr lang="en-IN" sz="1800" b="1"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800" b="1" kern="100" dirty="0">
                          <a:effectLst/>
                          <a:latin typeface="Cambria" panose="02040503050406030204" pitchFamily="18" charset="0"/>
                          <a:ea typeface="Cambria" panose="02040503050406030204" pitchFamily="18" charset="0"/>
                        </a:rPr>
                        <a:t>RL-Based Agents (Proposed)</a:t>
                      </a:r>
                      <a:endParaRPr lang="en-IN" sz="1800" b="1" kern="100" dirty="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extLst>
                  <a:ext uri="{0D108BD9-81ED-4DB2-BD59-A6C34878D82A}">
                    <a16:rowId xmlns:a16="http://schemas.microsoft.com/office/drawing/2014/main" val="1939438122"/>
                  </a:ext>
                </a:extLst>
              </a:tr>
              <a:tr h="446315">
                <a:tc>
                  <a:txBody>
                    <a:bodyPr/>
                    <a:lstStyle/>
                    <a:p>
                      <a:pPr marL="0" marR="0" algn="just">
                        <a:buNone/>
                      </a:pPr>
                      <a:r>
                        <a:rPr lang="en-US" sz="1600" kern="100">
                          <a:effectLst/>
                          <a:latin typeface="Cambria" panose="02040503050406030204" pitchFamily="18" charset="0"/>
                          <a:ea typeface="Cambria" panose="02040503050406030204" pitchFamily="18" charset="0"/>
                        </a:rPr>
                        <a:t>Decision Making</a:t>
                      </a:r>
                      <a:endParaRPr lang="en-IN" sz="1600" b="1" i="1"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600" kern="100" dirty="0">
                          <a:effectLst/>
                          <a:latin typeface="Cambria" panose="02040503050406030204" pitchFamily="18" charset="0"/>
                          <a:ea typeface="Cambria" panose="02040503050406030204" pitchFamily="18" charset="0"/>
                        </a:rPr>
                        <a:t>Fixed, pre-defined rules trigger agent actions.</a:t>
                      </a:r>
                      <a:endParaRPr lang="en-IN" sz="1600" kern="100" dirty="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600" kern="100" dirty="0">
                          <a:effectLst/>
                          <a:latin typeface="Cambria" panose="02040503050406030204" pitchFamily="18" charset="0"/>
                          <a:ea typeface="Cambria" panose="02040503050406030204" pitchFamily="18" charset="0"/>
                        </a:rPr>
                        <a:t>Q-values are learned and updated from reward feedback, enabling flexible decisions.</a:t>
                      </a:r>
                      <a:endParaRPr lang="en-IN" sz="1600" kern="100" dirty="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extLst>
                  <a:ext uri="{0D108BD9-81ED-4DB2-BD59-A6C34878D82A}">
                    <a16:rowId xmlns:a16="http://schemas.microsoft.com/office/drawing/2014/main" val="335349575"/>
                  </a:ext>
                </a:extLst>
              </a:tr>
              <a:tr h="468085">
                <a:tc>
                  <a:txBody>
                    <a:bodyPr/>
                    <a:lstStyle/>
                    <a:p>
                      <a:pPr marL="0" marR="0" algn="just">
                        <a:buNone/>
                      </a:pPr>
                      <a:r>
                        <a:rPr lang="en-US" sz="1600" kern="100">
                          <a:effectLst/>
                          <a:latin typeface="Cambria" panose="02040503050406030204" pitchFamily="18" charset="0"/>
                          <a:ea typeface="Cambria" panose="02040503050406030204" pitchFamily="18" charset="0"/>
                        </a:rPr>
                        <a:t>State Awareness</a:t>
                      </a:r>
                      <a:endParaRPr lang="en-IN" sz="1600" b="1" i="1"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600" kern="100">
                          <a:effectLst/>
                          <a:latin typeface="Cambria" panose="02040503050406030204" pitchFamily="18" charset="0"/>
                          <a:ea typeface="Cambria" panose="02040503050406030204" pitchFamily="18" charset="0"/>
                        </a:rPr>
                        <a:t>Agents react only to immediate, hard-coded conditions.</a:t>
                      </a:r>
                      <a:endParaRPr lang="en-IN" sz="1600"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600" kern="100" dirty="0">
                          <a:effectLst/>
                          <a:latin typeface="Cambria" panose="02040503050406030204" pitchFamily="18" charset="0"/>
                          <a:ea typeface="Cambria" panose="02040503050406030204" pitchFamily="18" charset="0"/>
                        </a:rPr>
                        <a:t>Agents build an internal value estimate of states, capturing longer-term consequences.</a:t>
                      </a:r>
                      <a:endParaRPr lang="en-IN" sz="1600" kern="100" dirty="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extLst>
                  <a:ext uri="{0D108BD9-81ED-4DB2-BD59-A6C34878D82A}">
                    <a16:rowId xmlns:a16="http://schemas.microsoft.com/office/drawing/2014/main" val="2693708063"/>
                  </a:ext>
                </a:extLst>
              </a:tr>
              <a:tr h="685800">
                <a:tc>
                  <a:txBody>
                    <a:bodyPr/>
                    <a:lstStyle/>
                    <a:p>
                      <a:pPr marL="0" marR="0" algn="just">
                        <a:buNone/>
                      </a:pPr>
                      <a:r>
                        <a:rPr lang="en-US" sz="1600" kern="100">
                          <a:effectLst/>
                          <a:latin typeface="Cambria" panose="02040503050406030204" pitchFamily="18" charset="0"/>
                          <a:ea typeface="Cambria" panose="02040503050406030204" pitchFamily="18" charset="0"/>
                        </a:rPr>
                        <a:t>Adaptability</a:t>
                      </a:r>
                      <a:endParaRPr lang="en-IN" sz="1600" b="1" i="1"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600" kern="100">
                          <a:effectLst/>
                          <a:latin typeface="Cambria" panose="02040503050406030204" pitchFamily="18" charset="0"/>
                          <a:ea typeface="Cambria" panose="02040503050406030204" pitchFamily="18" charset="0"/>
                        </a:rPr>
                        <a:t>Behavior stays static regardless of new patterns in the environment.</a:t>
                      </a:r>
                      <a:endParaRPr lang="en-IN" sz="1600"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600" kern="100">
                          <a:effectLst/>
                          <a:latin typeface="Cambria" panose="02040503050406030204" pitchFamily="18" charset="0"/>
                          <a:ea typeface="Cambria" panose="02040503050406030204" pitchFamily="18" charset="0"/>
                        </a:rPr>
                        <a:t>Policies adapt as agents accumulate experience across episodes.</a:t>
                      </a:r>
                      <a:endParaRPr lang="en-IN" sz="1600"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extLst>
                  <a:ext uri="{0D108BD9-81ED-4DB2-BD59-A6C34878D82A}">
                    <a16:rowId xmlns:a16="http://schemas.microsoft.com/office/drawing/2014/main" val="730177382"/>
                  </a:ext>
                </a:extLst>
              </a:tr>
              <a:tr h="631372">
                <a:tc>
                  <a:txBody>
                    <a:bodyPr/>
                    <a:lstStyle/>
                    <a:p>
                      <a:pPr marL="0" marR="0" algn="just">
                        <a:buNone/>
                      </a:pPr>
                      <a:r>
                        <a:rPr lang="en-US" sz="1600" kern="100" dirty="0">
                          <a:effectLst/>
                          <a:latin typeface="Cambria" panose="02040503050406030204" pitchFamily="18" charset="0"/>
                          <a:ea typeface="Cambria" panose="02040503050406030204" pitchFamily="18" charset="0"/>
                        </a:rPr>
                        <a:t>Coordination</a:t>
                      </a:r>
                    </a:p>
                  </a:txBody>
                  <a:tcPr marL="53794" marR="53794" marT="0" marB="0"/>
                </a:tc>
                <a:tc>
                  <a:txBody>
                    <a:bodyPr/>
                    <a:lstStyle/>
                    <a:p>
                      <a:pPr marL="0" marR="0" algn="l">
                        <a:buNone/>
                      </a:pPr>
                      <a:r>
                        <a:rPr lang="en-US" sz="1600" kern="100">
                          <a:effectLst/>
                          <a:latin typeface="Cambria" panose="02040503050406030204" pitchFamily="18" charset="0"/>
                          <a:ea typeface="Cambria" panose="02040503050406030204" pitchFamily="18" charset="0"/>
                        </a:rPr>
                        <a:t>Agents act independently with no shared learning signal.</a:t>
                      </a:r>
                      <a:endParaRPr lang="en-IN" sz="1600"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600" kern="100">
                          <a:effectLst/>
                          <a:latin typeface="Cambria" panose="02040503050406030204" pitchFamily="18" charset="0"/>
                          <a:ea typeface="Cambria" panose="02040503050406030204" pitchFamily="18" charset="0"/>
                        </a:rPr>
                        <a:t>Shared reward structures implicitly encourage cooperative survival behavior.</a:t>
                      </a:r>
                      <a:endParaRPr lang="en-IN" sz="1600"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extLst>
                  <a:ext uri="{0D108BD9-81ED-4DB2-BD59-A6C34878D82A}">
                    <a16:rowId xmlns:a16="http://schemas.microsoft.com/office/drawing/2014/main" val="1902227411"/>
                  </a:ext>
                </a:extLst>
              </a:tr>
              <a:tr h="653143">
                <a:tc>
                  <a:txBody>
                    <a:bodyPr/>
                    <a:lstStyle/>
                    <a:p>
                      <a:pPr marL="0" marR="0" algn="just">
                        <a:buNone/>
                      </a:pPr>
                      <a:r>
                        <a:rPr lang="en-US" sz="1600" kern="100">
                          <a:effectLst/>
                          <a:latin typeface="Cambria" panose="02040503050406030204" pitchFamily="18" charset="0"/>
                          <a:ea typeface="Cambria" panose="02040503050406030204" pitchFamily="18" charset="0"/>
                        </a:rPr>
                        <a:t>Robustness to Uncertainty</a:t>
                      </a:r>
                      <a:endParaRPr lang="en-IN" sz="1600" b="1" i="1"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600" kern="100">
                          <a:effectLst/>
                          <a:latin typeface="Cambria" panose="02040503050406030204" pitchFamily="18" charset="0"/>
                          <a:ea typeface="Cambria" panose="02040503050406030204" pitchFamily="18" charset="0"/>
                        </a:rPr>
                        <a:t>Performs poorly in scenarios not covered by the rules.</a:t>
                      </a:r>
                      <a:endParaRPr lang="en-IN" sz="1600"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600" kern="100">
                          <a:effectLst/>
                          <a:latin typeface="Cambria" panose="02040503050406030204" pitchFamily="18" charset="0"/>
                          <a:ea typeface="Cambria" panose="02040503050406030204" pitchFamily="18" charset="0"/>
                        </a:rPr>
                        <a:t>Generalizes better to unseen situations through learned policies.</a:t>
                      </a:r>
                      <a:endParaRPr lang="en-IN" sz="1600"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extLst>
                  <a:ext uri="{0D108BD9-81ED-4DB2-BD59-A6C34878D82A}">
                    <a16:rowId xmlns:a16="http://schemas.microsoft.com/office/drawing/2014/main" val="538475935"/>
                  </a:ext>
                </a:extLst>
              </a:tr>
              <a:tr h="752213">
                <a:tc>
                  <a:txBody>
                    <a:bodyPr/>
                    <a:lstStyle/>
                    <a:p>
                      <a:pPr marL="0" marR="0" algn="just">
                        <a:buNone/>
                      </a:pPr>
                      <a:r>
                        <a:rPr lang="en-US" sz="1600" kern="100" dirty="0">
                          <a:effectLst/>
                          <a:latin typeface="Cambria" panose="02040503050406030204" pitchFamily="18" charset="0"/>
                          <a:ea typeface="Cambria" panose="02040503050406030204" pitchFamily="18" charset="0"/>
                        </a:rPr>
                        <a:t>Performance Over Time</a:t>
                      </a:r>
                      <a:endParaRPr lang="en-IN" sz="1600" b="1" i="1" kern="100" dirty="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600" kern="100">
                          <a:effectLst/>
                          <a:latin typeface="Cambria" panose="02040503050406030204" pitchFamily="18" charset="0"/>
                          <a:ea typeface="Cambria" panose="02040503050406030204" pitchFamily="18" charset="0"/>
                        </a:rPr>
                        <a:t>Remains constant; does not improve with more simulation runs.</a:t>
                      </a:r>
                      <a:endParaRPr lang="en-IN" sz="1600" kern="10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tc>
                  <a:txBody>
                    <a:bodyPr/>
                    <a:lstStyle/>
                    <a:p>
                      <a:pPr marL="0" marR="0" algn="l">
                        <a:buNone/>
                      </a:pPr>
                      <a:r>
                        <a:rPr lang="en-US" sz="1600" kern="100" dirty="0">
                          <a:effectLst/>
                          <a:latin typeface="Cambria" panose="02040503050406030204" pitchFamily="18" charset="0"/>
                          <a:ea typeface="Cambria" panose="02040503050406030204" pitchFamily="18" charset="0"/>
                        </a:rPr>
                        <a:t>Improves steadily as training episodes increase.</a:t>
                      </a:r>
                      <a:endParaRPr lang="en-IN" sz="1600" kern="100" dirty="0">
                        <a:effectLst/>
                        <a:latin typeface="Cambria" panose="02040503050406030204" pitchFamily="18" charset="0"/>
                        <a:ea typeface="Cambria" panose="02040503050406030204" pitchFamily="18" charset="0"/>
                        <a:cs typeface="Latha" panose="020B0604020202020204" pitchFamily="34" charset="0"/>
                      </a:endParaRPr>
                    </a:p>
                  </a:txBody>
                  <a:tcPr marL="53794" marR="53794" marT="0" marB="0"/>
                </a:tc>
                <a:extLst>
                  <a:ext uri="{0D108BD9-81ED-4DB2-BD59-A6C34878D82A}">
                    <a16:rowId xmlns:a16="http://schemas.microsoft.com/office/drawing/2014/main" val="24347653"/>
                  </a:ext>
                </a:extLst>
              </a:tr>
            </a:tbl>
          </a:graphicData>
        </a:graphic>
      </p:graphicFrame>
      <p:sp>
        <p:nvSpPr>
          <p:cNvPr id="8" name="TextBox 7">
            <a:extLst>
              <a:ext uri="{FF2B5EF4-FFF2-40B4-BE49-F238E27FC236}">
                <a16:creationId xmlns:a16="http://schemas.microsoft.com/office/drawing/2014/main" id="{FDB57BF8-ED4E-2A1B-C5E9-EB0BC22DC3F7}"/>
              </a:ext>
            </a:extLst>
          </p:cNvPr>
          <p:cNvSpPr txBox="1"/>
          <p:nvPr/>
        </p:nvSpPr>
        <p:spPr>
          <a:xfrm>
            <a:off x="1137557" y="5941093"/>
            <a:ext cx="9916885" cy="877163"/>
          </a:xfrm>
          <a:prstGeom prst="rect">
            <a:avLst/>
          </a:prstGeom>
          <a:noFill/>
        </p:spPr>
        <p:txBody>
          <a:bodyPr wrap="square">
            <a:spAutoFit/>
          </a:bodyPr>
          <a:lstStyle/>
          <a:p>
            <a:pPr marR="0" lvl="0" algn="ctr">
              <a:lnSpc>
                <a:spcPct val="90000"/>
              </a:lnSpc>
              <a:spcBef>
                <a:spcPts val="1200"/>
              </a:spcBef>
              <a:spcAft>
                <a:spcPts val="600"/>
              </a:spcAft>
              <a:buSzPts val="800"/>
              <a:tabLst>
                <a:tab pos="685800" algn="l"/>
              </a:tabLst>
            </a:pPr>
            <a:r>
              <a:rPr lang="en-US" sz="2000" dirty="0">
                <a:solidFill>
                  <a:schemeClr val="accent5">
                    <a:lumMod val="50000"/>
                  </a:schemeClr>
                </a:solidFill>
                <a:effectLst/>
                <a:latin typeface="Cambria" panose="02040503050406030204" pitchFamily="18" charset="0"/>
                <a:ea typeface="Cambria" panose="02040503050406030204" pitchFamily="18" charset="0"/>
              </a:rPr>
              <a:t>Comparison of rule-based agents and multi-agent Q-learning agents in Project Phoenix</a:t>
            </a:r>
          </a:p>
          <a:p>
            <a:pPr marR="0" lvl="0" algn="ctr">
              <a:lnSpc>
                <a:spcPct val="90000"/>
              </a:lnSpc>
              <a:spcBef>
                <a:spcPts val="1200"/>
              </a:spcBef>
              <a:spcAft>
                <a:spcPts val="600"/>
              </a:spcAft>
              <a:buSzPts val="800"/>
              <a:tabLst>
                <a:tab pos="685800" algn="l"/>
              </a:tabLst>
            </a:pPr>
            <a:r>
              <a:rPr lang="en-US" sz="2000" dirty="0">
                <a:solidFill>
                  <a:schemeClr val="accent5">
                    <a:lumMod val="50000"/>
                  </a:schemeClr>
                </a:solidFill>
                <a:effectLst/>
                <a:latin typeface="Cambria" panose="02040503050406030204" pitchFamily="18" charset="0"/>
                <a:ea typeface="Cambria" panose="02040503050406030204" pitchFamily="18" charset="0"/>
              </a:rPr>
              <a:t>Multi-Agent Reinforcement Learning Framework</a:t>
            </a:r>
            <a:endParaRPr lang="en-IN" sz="2000" dirty="0">
              <a:solidFill>
                <a:schemeClr val="accent5">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78068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8C14A7F-5BEB-FE38-EF21-88C94E592B15}"/>
              </a:ext>
            </a:extLst>
          </p:cNvPr>
          <p:cNvSpPr>
            <a:spLocks noChangeArrowheads="1"/>
          </p:cNvSpPr>
          <p:nvPr/>
        </p:nvSpPr>
        <p:spPr bwMode="auto">
          <a:xfrm>
            <a:off x="478971" y="1043731"/>
            <a:ext cx="10624457"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Multi-agent Q-learning enables survivor agents to develop adaptive, context-aware survival strategies rather than relying on fixed rules.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GMM-based synthetic data pipeline provides a scalable way to model diverse survivor, zombie, and environmental conditions without needing large real-world datasets.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Strong correlation between training episodes and improved survival rate demonstrates effective policy learning across agents.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agent-based simulation framework generalizes well to other multi-agent decision-making domains, such as evacuation and resource allocation.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Combining statistical data generation with reinforcement learning improves both realism and adaptability compared to traditional rule-based simulation methods.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Evaluation metrics such as survival rate and average reward provide a reliable baseline for comparing future improvements to the framework.</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framework’s modular design allows individual components — data generation, simulation, learning, and evaluation — to be upgraded independently as more advanced techniques become available.</a:t>
            </a:r>
          </a:p>
        </p:txBody>
      </p:sp>
      <p:sp>
        <p:nvSpPr>
          <p:cNvPr id="5" name="TextBox 4">
            <a:extLst>
              <a:ext uri="{FF2B5EF4-FFF2-40B4-BE49-F238E27FC236}">
                <a16:creationId xmlns:a16="http://schemas.microsoft.com/office/drawing/2014/main" id="{1002ECE6-3E5B-77E0-F3FB-F88FAE3019CF}"/>
              </a:ext>
            </a:extLst>
          </p:cNvPr>
          <p:cNvSpPr txBox="1"/>
          <p:nvPr/>
        </p:nvSpPr>
        <p:spPr>
          <a:xfrm>
            <a:off x="3995058" y="193815"/>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kern="0" cap="small" dirty="0">
                <a:solidFill>
                  <a:schemeClr val="accent1">
                    <a:lumMod val="50000"/>
                  </a:schemeClr>
                </a:solidFill>
                <a:latin typeface="Cambria" panose="02040503050406030204" pitchFamily="18" charset="0"/>
                <a:ea typeface="Cambria" panose="02040503050406030204" pitchFamily="18" charset="0"/>
              </a:rPr>
              <a:t>Conclusion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5532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BCB49A-7566-1752-A6C3-8828599304A3}"/>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Future Scope</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10" name="TextBox 9"/>
          <p:cNvSpPr txBox="1"/>
          <p:nvPr/>
        </p:nvSpPr>
        <p:spPr>
          <a:xfrm>
            <a:off x="1082040" y="1400000"/>
            <a:ext cx="10403840" cy="378045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Extend the framework to real-world disaster and evacuation simulations using the same multi-agent reinforcement learning architecture.</a:t>
            </a:r>
          </a:p>
          <a:p>
            <a:pPr marL="285750" indent="-285750">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Replace tabular Q-Learning with Deep Q-Networks (DQN) to handle larger, continuous state spaces.</a:t>
            </a:r>
          </a:p>
          <a:p>
            <a:pPr marL="285750" indent="-285750">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Incorporate cooperative multi-agent algorithms such as MADDPG for more realistic survivor teamwork.</a:t>
            </a:r>
          </a:p>
          <a:p>
            <a:pPr marL="285750" indent="-285750">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Add richer agent perception, such as vision- or sensor-based state representation, for more complex decision-making.</a:t>
            </a:r>
          </a:p>
          <a:p>
            <a:pPr marL="285750" indent="-285750">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Validate the framework against real-world emergency-response or evacuation datasets.</a:t>
            </a:r>
          </a:p>
          <a:p>
            <a:pPr marL="285750" indent="-285750">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Deploy the system as an interactive simulation tool for training, research, or educational use.</a:t>
            </a:r>
          </a:p>
        </p:txBody>
      </p:sp>
    </p:spTree>
    <p:extLst>
      <p:ext uri="{BB962C8B-B14F-4D97-AF65-F5344CB8AC3E}">
        <p14:creationId xmlns:p14="http://schemas.microsoft.com/office/powerpoint/2010/main" val="2814907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C2B2C8-3E95-6CDE-3A5A-E617D11CACDE}"/>
              </a:ext>
            </a:extLst>
          </p:cNvPr>
          <p:cNvSpPr txBox="1"/>
          <p:nvPr/>
        </p:nvSpPr>
        <p:spPr>
          <a:xfrm>
            <a:off x="4831805" y="283421"/>
            <a:ext cx="242243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References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10" name="TextBox 9"/>
          <p:cNvSpPr txBox="1"/>
          <p:nvPr/>
        </p:nvSpPr>
        <p:spPr>
          <a:xfrm>
            <a:off x="1082040" y="1400000"/>
            <a:ext cx="10403840" cy="4801314"/>
          </a:xfrm>
          <a:prstGeom prst="rect">
            <a:avLst/>
          </a:prstGeom>
          <a:noFill/>
        </p:spPr>
        <p:txBody>
          <a:bodyPr wrap="square">
            <a:spAutoFit/>
          </a:bodyPr>
          <a:lstStyle/>
          <a:p>
            <a:pPr marL="342900" indent="-342900">
              <a:buFont typeface="+mn-lt"/>
              <a:buAutoNum type="arabicPeriod"/>
            </a:pPr>
            <a:r>
              <a:rPr lang="en-IN" dirty="0">
                <a:latin typeface="Cambria" panose="02040503050406030204" pitchFamily="18" charset="0"/>
                <a:ea typeface="Cambria" panose="02040503050406030204" pitchFamily="18" charset="0"/>
              </a:rPr>
              <a:t>Chokwitthaya, C., Zhu, Y., Mukhopadhyay, S., &amp; Jafari, A. (2020). Applying the Gaussian Mixture Model to Generate Large Synthetic Data from a Small Data Set. Construction Research Congress 2020, 1251–1260.</a:t>
            </a:r>
          </a:p>
          <a:p>
            <a:pPr marL="342900" indent="-342900">
              <a:buFont typeface="+mn-lt"/>
              <a:buAutoNum type="arabicPeriod"/>
            </a:pPr>
            <a:r>
              <a:rPr lang="en-IN" dirty="0">
                <a:latin typeface="Cambria" panose="02040503050406030204" pitchFamily="18" charset="0"/>
                <a:ea typeface="Cambria" panose="02040503050406030204" pitchFamily="18" charset="0"/>
              </a:rPr>
              <a:t>Figueira, A., &amp; Vaz, B. (2022). Survey on Synthetic Data Generation, Evaluation Methods and GANs. Mathematics, 10(15), 2733.</a:t>
            </a:r>
          </a:p>
          <a:p>
            <a:pPr marL="342900" indent="-342900">
              <a:buFont typeface="+mn-lt"/>
              <a:buAutoNum type="arabicPeriod"/>
            </a:pPr>
            <a:r>
              <a:rPr lang="en-IN" dirty="0">
                <a:latin typeface="Cambria" panose="02040503050406030204" pitchFamily="18" charset="0"/>
                <a:ea typeface="Cambria" panose="02040503050406030204" pitchFamily="18" charset="0"/>
              </a:rPr>
              <a:t>Van Steenbergen, R., Mes, M., &amp; Van Heeswijk, W. (2023). Reinforcement Learning for Humanitarian Relief Distribution with Trucks and UAVs under Travel Time Uncertainty. Transportation Research Part C: Emerging Technologies, 157, 104401.</a:t>
            </a:r>
          </a:p>
          <a:p>
            <a:pPr marL="342900" indent="-342900">
              <a:buFont typeface="+mn-lt"/>
              <a:buAutoNum type="arabicPeriod"/>
            </a:pPr>
            <a:r>
              <a:rPr lang="en-IN" dirty="0">
                <a:latin typeface="Cambria" panose="02040503050406030204" pitchFamily="18" charset="0"/>
                <a:ea typeface="Cambria" panose="02040503050406030204" pitchFamily="18" charset="0"/>
              </a:rPr>
              <a:t>A Situation-Aware Emergency Evacuation (SAEE) Model Using Multi-Agent-Based Simulation for Crisis Management after Earthquake Warning. (2023). Geo-spatial Information Science, 26(6), 1800–1823.</a:t>
            </a:r>
          </a:p>
          <a:p>
            <a:pPr marL="342900" indent="-342900">
              <a:buFont typeface="+mn-lt"/>
              <a:buAutoNum type="arabicPeriod"/>
            </a:pPr>
            <a:r>
              <a:rPr lang="en-IN" dirty="0">
                <a:latin typeface="Cambria" panose="02040503050406030204" pitchFamily="18" charset="0"/>
                <a:ea typeface="Cambria" panose="02040503050406030204" pitchFamily="18" charset="0"/>
              </a:rPr>
              <a:t>Optimizing Evacuation Paths Using Agent-Based Evacuation Simulations and Reinforcement Learning. (2024). International Journal of Disaster Risk Reduction, 101, 104252.</a:t>
            </a:r>
          </a:p>
          <a:p>
            <a:pPr marL="342900" indent="-342900">
              <a:buFont typeface="+mn-lt"/>
              <a:buAutoNum type="arabicPeriod"/>
            </a:pPr>
            <a:r>
              <a:rPr lang="en-IN" dirty="0">
                <a:latin typeface="Cambria" panose="02040503050406030204" pitchFamily="18" charset="0"/>
                <a:ea typeface="Cambria" panose="02040503050406030204" pitchFamily="18" charset="0"/>
              </a:rPr>
              <a:t>Multi-Agent Deep Reinforcement Learning-Based Path Planning for Crowd Evacuation in Buildings. (2025). Transportation Research Part C: Emerging Technologies, 179, 105267.</a:t>
            </a:r>
          </a:p>
          <a:p>
            <a:pPr marL="342900" indent="-342900">
              <a:buFont typeface="+mn-lt"/>
              <a:buAutoNum type="arabicPeriod"/>
            </a:pPr>
            <a:r>
              <a:rPr lang="en-IN" dirty="0">
                <a:latin typeface="Cambria" panose="02040503050406030204" pitchFamily="18" charset="0"/>
                <a:ea typeface="Cambria" panose="02040503050406030204" pitchFamily="18" charset="0"/>
              </a:rPr>
              <a:t>Modeling Seismic Resilience and Hospital Evacuation: A Comparative Analysis of Multi-Agent Reinforcement Learning and Classical Evacuation Models. (2026). Buildings, 16(8), 1538.</a:t>
            </a:r>
          </a:p>
        </p:txBody>
      </p:sp>
    </p:spTree>
    <p:extLst>
      <p:ext uri="{BB962C8B-B14F-4D97-AF65-F5344CB8AC3E}">
        <p14:creationId xmlns:p14="http://schemas.microsoft.com/office/powerpoint/2010/main" val="3822484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7D661C-0492-B2DC-6906-6403F07E81D6}"/>
              </a:ext>
            </a:extLst>
          </p:cNvPr>
          <p:cNvSpPr txBox="1"/>
          <p:nvPr/>
        </p:nvSpPr>
        <p:spPr>
          <a:xfrm>
            <a:off x="4659085" y="283421"/>
            <a:ext cx="361115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Acknowledgement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10" name="TextBox 9"/>
          <p:cNvSpPr txBox="1"/>
          <p:nvPr/>
        </p:nvSpPr>
        <p:spPr>
          <a:xfrm>
            <a:off x="1082040" y="1997839"/>
            <a:ext cx="10403840" cy="2500000"/>
          </a:xfrm>
          <a:prstGeom prst="rect">
            <a:avLst/>
          </a:prstGeom>
          <a:noFill/>
        </p:spPr>
        <p:txBody>
          <a:bodyPr wrap="square">
            <a:spAutoFit/>
          </a:bodyPr>
          <a:lstStyle/>
          <a:p>
            <a:pPr marL="0" indent="0" algn="just"/>
            <a:r>
              <a:rPr lang="en-IN" sz="1800" dirty="0">
                <a:solidFill>
                  <a:schemeClr val="tx1"/>
                </a:solidFill>
                <a:latin typeface="Cambria" panose="02040503050406030204" pitchFamily="18" charset="0"/>
                <a:ea typeface="Cambria" panose="02040503050406030204" pitchFamily="18" charset="0"/>
              </a:rPr>
              <a:t>We would like to express our sincere gratitude to Dr. Vincent Gunaraj T, our project guide, for his valuable guidance, continuous support, and encouragement throughout this project. We also thank the Department of Quantum Intelligence and SIMATS Engineering for providing the resources and environment necessary to carry out this work. Finally, we thank our team members and peers for their collaboration and effort in bringing this project to completion.</a:t>
            </a:r>
          </a:p>
        </p:txBody>
      </p:sp>
    </p:spTree>
    <p:extLst>
      <p:ext uri="{BB962C8B-B14F-4D97-AF65-F5344CB8AC3E}">
        <p14:creationId xmlns:p14="http://schemas.microsoft.com/office/powerpoint/2010/main" val="3054848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1E22C8-2CF0-7AE6-09F4-2EFEF4F38ABC}"/>
              </a:ext>
            </a:extLst>
          </p:cNvPr>
          <p:cNvSpPr/>
          <p:nvPr/>
        </p:nvSpPr>
        <p:spPr>
          <a:xfrm>
            <a:off x="3113315" y="2505670"/>
            <a:ext cx="6466114" cy="923330"/>
          </a:xfrm>
          <a:prstGeom prst="rect">
            <a:avLst/>
          </a:prstGeom>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wrap="square" lIns="91440" tIns="45720" rIns="91440" bIns="45720">
            <a:spAutoFit/>
          </a:bodyPr>
          <a:lstStyle/>
          <a:p>
            <a:pPr algn="ctr"/>
            <a:r>
              <a:rPr lang="en-US" sz="5400" b="1" spc="50" dirty="0">
                <a:ln w="0">
                  <a:solidFill>
                    <a:schemeClr val="accent6">
                      <a:lumMod val="50000"/>
                    </a:schemeClr>
                  </a:solidFill>
                </a:ln>
                <a:solidFill>
                  <a:schemeClr val="accent6">
                    <a:lumMod val="40000"/>
                    <a:lumOff val="60000"/>
                  </a:schemeClr>
                </a:solidFill>
                <a:effectLst>
                  <a:innerShdw blurRad="63500" dist="50800" dir="13500000">
                    <a:srgbClr val="000000">
                      <a:alpha val="50000"/>
                    </a:srgbClr>
                  </a:innerShdw>
                  <a:reflection blurRad="6350" stA="55000" endA="300" endPos="45500" dir="5400000" sy="-100000" algn="bl" rotWithShape="0"/>
                </a:effectLst>
              </a:rPr>
              <a:t>The End</a:t>
            </a:r>
          </a:p>
        </p:txBody>
      </p:sp>
    </p:spTree>
    <p:extLst>
      <p:ext uri="{BB962C8B-B14F-4D97-AF65-F5344CB8AC3E}">
        <p14:creationId xmlns:p14="http://schemas.microsoft.com/office/powerpoint/2010/main" val="2878836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660</TotalTime>
  <Words>4295</Words>
  <Application>Microsoft Office PowerPoint</Application>
  <PresentationFormat>Widescreen</PresentationFormat>
  <Paragraphs>334</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gnanaraj</dc:creator>
  <cp:lastModifiedBy>Praveen kumar C</cp:lastModifiedBy>
  <cp:revision>18</cp:revision>
  <dcterms:created xsi:type="dcterms:W3CDTF">2025-08-11T02:48:58Z</dcterms:created>
  <dcterms:modified xsi:type="dcterms:W3CDTF">2026-09-01T14:23:43Z</dcterms:modified>
</cp:coreProperties>
</file>